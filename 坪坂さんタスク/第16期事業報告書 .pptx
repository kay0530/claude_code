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9"/>
  </p:notesMasterIdLst>
  <p:handoutMasterIdLst>
    <p:handoutMasterId r:id="rId10"/>
  </p:handoutMasterIdLst>
  <p:sldIdLst>
    <p:sldId id="447" r:id="rId2"/>
    <p:sldId id="439" r:id="rId3"/>
    <p:sldId id="448" r:id="rId4"/>
    <p:sldId id="449" r:id="rId5"/>
    <p:sldId id="444" r:id="rId6"/>
    <p:sldId id="446" r:id="rId7"/>
    <p:sldId id="443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33CC"/>
    <a:srgbClr val="FF0066"/>
    <a:srgbClr val="99FF33"/>
    <a:srgbClr val="00FFFF"/>
    <a:srgbClr val="66FFCC"/>
    <a:srgbClr val="FFCCFF"/>
    <a:srgbClr val="FF99FF"/>
    <a:srgbClr val="FFFFCC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5" autoAdjust="0"/>
    <p:restoredTop sz="89055" autoAdjust="0"/>
  </p:normalViewPr>
  <p:slideViewPr>
    <p:cSldViewPr>
      <p:cViewPr varScale="1">
        <p:scale>
          <a:sx n="73" d="100"/>
          <a:sy n="73" d="100"/>
        </p:scale>
        <p:origin x="66" y="7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5" y="2"/>
            <a:ext cx="2949533" cy="497969"/>
          </a:xfrm>
          <a:prstGeom prst="rect">
            <a:avLst/>
          </a:prstGeom>
        </p:spPr>
        <p:txBody>
          <a:bodyPr vert="horz" lIns="88282" tIns="44139" rIns="88282" bIns="44139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6146" y="2"/>
            <a:ext cx="2949532" cy="497969"/>
          </a:xfrm>
          <a:prstGeom prst="rect">
            <a:avLst/>
          </a:prstGeom>
        </p:spPr>
        <p:txBody>
          <a:bodyPr vert="horz" lIns="88282" tIns="44139" rIns="88282" bIns="44139" rtlCol="0"/>
          <a:lstStyle>
            <a:lvl1pPr algn="r">
              <a:defRPr sz="1200"/>
            </a:lvl1pPr>
          </a:lstStyle>
          <a:p>
            <a:fld id="{06A1B864-3AD6-4082-89F7-8A7CD93CE716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5" y="9441372"/>
            <a:ext cx="2949533" cy="497969"/>
          </a:xfrm>
          <a:prstGeom prst="rect">
            <a:avLst/>
          </a:prstGeom>
        </p:spPr>
        <p:txBody>
          <a:bodyPr vert="horz" lIns="88282" tIns="44139" rIns="88282" bIns="44139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146" y="9441372"/>
            <a:ext cx="2949532" cy="497969"/>
          </a:xfrm>
          <a:prstGeom prst="rect">
            <a:avLst/>
          </a:prstGeom>
        </p:spPr>
        <p:txBody>
          <a:bodyPr vert="horz" lIns="88282" tIns="44139" rIns="88282" bIns="44139" rtlCol="0" anchor="b"/>
          <a:lstStyle>
            <a:lvl1pPr algn="r">
              <a:defRPr sz="1200"/>
            </a:lvl1pPr>
          </a:lstStyle>
          <a:p>
            <a:fld id="{26B3A7D3-739D-48E8-A8F2-61544F650A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1196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6966"/>
          </a:xfrm>
          <a:prstGeom prst="rect">
            <a:avLst/>
          </a:prstGeom>
        </p:spPr>
        <p:txBody>
          <a:bodyPr vert="horz" lIns="91082" tIns="45541" rIns="91082" bIns="45541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42" y="1"/>
            <a:ext cx="2949787" cy="496966"/>
          </a:xfrm>
          <a:prstGeom prst="rect">
            <a:avLst/>
          </a:prstGeom>
        </p:spPr>
        <p:txBody>
          <a:bodyPr vert="horz" lIns="91082" tIns="45541" rIns="91082" bIns="45541" rtlCol="0"/>
          <a:lstStyle>
            <a:lvl1pPr algn="r">
              <a:defRPr sz="1200"/>
            </a:lvl1pPr>
          </a:lstStyle>
          <a:p>
            <a:fld id="{741F0779-03A2-4CB1-B3A8-17041A95904D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82" tIns="45541" rIns="91082" bIns="45541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21187"/>
            <a:ext cx="5445760" cy="4472702"/>
          </a:xfrm>
          <a:prstGeom prst="rect">
            <a:avLst/>
          </a:prstGeom>
        </p:spPr>
        <p:txBody>
          <a:bodyPr vert="horz" lIns="91082" tIns="45541" rIns="91082" bIns="45541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8"/>
            <a:ext cx="2949787" cy="496966"/>
          </a:xfrm>
          <a:prstGeom prst="rect">
            <a:avLst/>
          </a:prstGeom>
        </p:spPr>
        <p:txBody>
          <a:bodyPr vert="horz" lIns="91082" tIns="45541" rIns="91082" bIns="45541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42" y="9440648"/>
            <a:ext cx="2949787" cy="496966"/>
          </a:xfrm>
          <a:prstGeom prst="rect">
            <a:avLst/>
          </a:prstGeom>
        </p:spPr>
        <p:txBody>
          <a:bodyPr vert="horz" lIns="91082" tIns="45541" rIns="91082" bIns="45541" rtlCol="0" anchor="b"/>
          <a:lstStyle>
            <a:lvl1pPr algn="r">
              <a:defRPr sz="1200"/>
            </a:lvl1pPr>
          </a:lstStyle>
          <a:p>
            <a:fld id="{3B67E142-4327-474E-A376-06EC650EC3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136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7E142-4327-474E-A376-06EC650EC300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982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7E142-4327-474E-A376-06EC650EC300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3253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のコピ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作者と日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671" y="5929931"/>
            <a:ext cx="10985501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作者と日付</a:t>
            </a:r>
          </a:p>
        </p:txBody>
      </p:sp>
      <p:sp>
        <p:nvSpPr>
          <p:cNvPr id="25" name="プレゼンテーション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03249" y="1287497"/>
            <a:ext cx="10985503" cy="2324101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プレゼンテーションのタイトル</a:t>
            </a:r>
          </a:p>
        </p:txBody>
      </p:sp>
      <p:sp>
        <p:nvSpPr>
          <p:cNvPr id="26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3" y="3611596"/>
            <a:ext cx="10985500" cy="952501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3429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5143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6858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r>
              <a:t>プレゼンテーションのサブタイトル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7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757527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666699290_02_crop_3159x1892.jpg"/>
          <p:cNvSpPr>
            <a:spLocks noGrp="1"/>
          </p:cNvSpPr>
          <p:nvPr>
            <p:ph type="pic" idx="21"/>
          </p:nvPr>
        </p:nvSpPr>
        <p:spPr>
          <a:xfrm>
            <a:off x="-577849" y="-647700"/>
            <a:ext cx="13373100" cy="800946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5" name="プレゼンテーション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03251" y="3562350"/>
            <a:ext cx="10985500" cy="2324100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プレゼンテーションのタイトル</a:t>
            </a:r>
          </a:p>
        </p:txBody>
      </p:sp>
      <p:sp>
        <p:nvSpPr>
          <p:cNvPr id="36" name="作者と日付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03846" y="553069"/>
            <a:ext cx="10984311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作者と日付</a:t>
            </a:r>
          </a:p>
        </p:txBody>
      </p:sp>
      <p:sp>
        <p:nvSpPr>
          <p:cNvPr id="37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3251" y="5804955"/>
            <a:ext cx="10985500" cy="558476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3429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5143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6858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r>
              <a:t>プレゼンテーションのサブタイトル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619173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910457886_1434x1669.jpg"/>
          <p:cNvSpPr>
            <a:spLocks noGrp="1"/>
          </p:cNvSpPr>
          <p:nvPr>
            <p:ph type="pic" idx="21"/>
          </p:nvPr>
        </p:nvSpPr>
        <p:spPr>
          <a:xfrm>
            <a:off x="5486400" y="-101600"/>
            <a:ext cx="6072419" cy="70675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6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03251" y="635001"/>
            <a:ext cx="4889500" cy="2941137"/>
          </a:xfrm>
          <a:prstGeom prst="rect">
            <a:avLst/>
          </a:prstGeom>
        </p:spPr>
        <p:txBody>
          <a:bodyPr anchor="b"/>
          <a:lstStyle/>
          <a:p>
            <a:r>
              <a:t>スライドのタイトル</a:t>
            </a:r>
          </a:p>
        </p:txBody>
      </p:sp>
      <p:sp>
        <p:nvSpPr>
          <p:cNvPr id="47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3251" y="3530288"/>
            <a:ext cx="4889500" cy="2692712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3429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5143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68580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r>
              <a:t>スライドのサブタイトル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8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5989207" y="6523451"/>
            <a:ext cx="232436" cy="20646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139899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スライド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スライドのタイトル</a:t>
            </a:r>
          </a:p>
        </p:txBody>
      </p:sp>
      <p:sp>
        <p:nvSpPr>
          <p:cNvPr id="56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1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57" name="本文レベル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66943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箇条書き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792433" y="91024"/>
            <a:ext cx="10985500" cy="519481"/>
          </a:xfrm>
          <a:prstGeom prst="rect">
            <a:avLst/>
          </a:prstGeom>
        </p:spPr>
        <p:txBody>
          <a:bodyPr anchor="ctr"/>
          <a:lstStyle>
            <a:lvl1pPr>
              <a:defRPr sz="2250" b="1" spc="-45">
                <a:solidFill>
                  <a:srgbClr val="292942"/>
                </a:solidFill>
                <a:latin typeface="メイリオ"/>
                <a:ea typeface="メイリオ"/>
                <a:cs typeface="メイリオ"/>
                <a:sym typeface="メイリオ"/>
              </a:defRPr>
            </a:lvl1pPr>
          </a:lstStyle>
          <a:p>
            <a:r>
              <a:t>スライドのタイトル</a:t>
            </a:r>
          </a:p>
        </p:txBody>
      </p:sp>
      <p:sp>
        <p:nvSpPr>
          <p:cNvPr id="66" name="本文レベル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142875" indent="-142875">
              <a:spcBef>
                <a:spcPts val="375"/>
              </a:spcBef>
              <a:defRPr sz="1125" b="1">
                <a:latin typeface="メイリオ"/>
                <a:ea typeface="メイリオ"/>
                <a:cs typeface="メイリオ"/>
                <a:sym typeface="メイリオ"/>
              </a:defRPr>
            </a:lvl1pPr>
            <a:lvl2pPr marL="290513" indent="-142875">
              <a:spcBef>
                <a:spcPts val="375"/>
              </a:spcBef>
              <a:defRPr sz="1125" b="1">
                <a:latin typeface="メイリオ"/>
                <a:ea typeface="メイリオ"/>
                <a:cs typeface="メイリオ"/>
                <a:sym typeface="メイリオ"/>
              </a:defRPr>
            </a:lvl2pPr>
            <a:lvl3pPr marL="433388" indent="-142875">
              <a:spcBef>
                <a:spcPts val="375"/>
              </a:spcBef>
              <a:defRPr sz="1125" b="1">
                <a:latin typeface="メイリオ"/>
                <a:ea typeface="メイリオ"/>
                <a:cs typeface="メイリオ"/>
                <a:sym typeface="メイリオ"/>
              </a:defRPr>
            </a:lvl3pPr>
            <a:lvl4pPr marL="828675" indent="-142875">
              <a:spcBef>
                <a:spcPts val="375"/>
              </a:spcBef>
              <a:defRPr sz="1125" b="1">
                <a:latin typeface="メイリオ"/>
                <a:ea typeface="メイリオ"/>
                <a:cs typeface="メイリオ"/>
                <a:sym typeface="メイリオ"/>
              </a:defRPr>
            </a:lvl4pPr>
            <a:lvl5pPr marL="1057275" indent="-142875">
              <a:spcBef>
                <a:spcPts val="375"/>
              </a:spcBef>
              <a:defRPr sz="1125" b="1">
                <a:latin typeface="メイリオ"/>
                <a:ea typeface="メイリオ"/>
                <a:cs typeface="メイリオ"/>
                <a:sym typeface="メイリオ"/>
              </a:defRPr>
            </a:lvl5pPr>
          </a:lstStyle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7" name="四角形"/>
          <p:cNvSpPr/>
          <p:nvPr/>
        </p:nvSpPr>
        <p:spPr>
          <a:xfrm>
            <a:off x="-23951" y="585104"/>
            <a:ext cx="8737889" cy="118174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0" scaled="1"/>
            <a:tileRect/>
          </a:gra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 defTabSz="309563" hangingPunct="0">
              <a:defRPr sz="3200">
                <a:solidFill>
                  <a:srgbClr val="FFFFFF"/>
                </a:solidFill>
              </a:defRPr>
            </a:pPr>
            <a:endParaRPr kumimoji="0" sz="1200" kern="0">
              <a:solidFill>
                <a:srgbClr val="FFFFFF"/>
              </a:solidFill>
              <a:latin typeface="ヒラギノ角ゴ ProN W3"/>
              <a:sym typeface="ヒラギノ角ゴ ProN W3"/>
            </a:endParaRPr>
          </a:p>
        </p:txBody>
      </p:sp>
      <p:sp>
        <p:nvSpPr>
          <p:cNvPr id="6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539274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本文レベル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7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782409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1" y="1186481"/>
            <a:ext cx="4889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85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3251" y="2124252"/>
            <a:ext cx="4889500" cy="4128315"/>
          </a:xfrm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6" name="660384004_1290x1720.jpg"/>
          <p:cNvSpPr>
            <a:spLocks noGrp="1"/>
          </p:cNvSpPr>
          <p:nvPr>
            <p:ph type="pic" idx="22"/>
          </p:nvPr>
        </p:nvSpPr>
        <p:spPr>
          <a:xfrm>
            <a:off x="6096000" y="-203633"/>
            <a:ext cx="5458437" cy="727791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7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03251" y="539750"/>
            <a:ext cx="4889500" cy="717550"/>
          </a:xfrm>
          <a:prstGeom prst="rect">
            <a:avLst/>
          </a:prstGeom>
        </p:spPr>
        <p:txBody>
          <a:bodyPr/>
          <a:lstStyle/>
          <a:p>
            <a:r>
              <a:t>スライドのタイトル</a:t>
            </a:r>
          </a:p>
        </p:txBody>
      </p:sp>
      <p:sp>
        <p:nvSpPr>
          <p:cNvPr id="8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644163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セクションタイトル"/>
          <p:cNvSpPr txBox="1">
            <a:spLocks noGrp="1"/>
          </p:cNvSpPr>
          <p:nvPr>
            <p:ph type="title" hasCustomPrompt="1"/>
          </p:nvPr>
        </p:nvSpPr>
        <p:spPr>
          <a:xfrm>
            <a:off x="603249" y="2266950"/>
            <a:ext cx="10985503" cy="2324100"/>
          </a:xfrm>
          <a:prstGeom prst="rect">
            <a:avLst/>
          </a:prstGeom>
        </p:spPr>
        <p:txBody>
          <a:bodyPr anchor="ctr"/>
          <a:lstStyle>
            <a:lvl1pPr>
              <a:defRPr sz="4350" spc="-87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r>
              <a:t>セクションタイトル</a:t>
            </a:r>
          </a:p>
        </p:txBody>
      </p:sp>
      <p:sp>
        <p:nvSpPr>
          <p:cNvPr id="9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5989207" y="6523451"/>
            <a:ext cx="232436" cy="20646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79073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03251" y="539750"/>
            <a:ext cx="10985500" cy="717475"/>
          </a:xfrm>
          <a:prstGeom prst="rect">
            <a:avLst/>
          </a:prstGeom>
        </p:spPr>
        <p:txBody>
          <a:bodyPr/>
          <a:lstStyle/>
          <a:p>
            <a:r>
              <a:t>スライドのタイトル</a:t>
            </a:r>
          </a:p>
        </p:txBody>
      </p:sp>
      <p:sp>
        <p:nvSpPr>
          <p:cNvPr id="104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1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105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841953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議題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03251" y="539750"/>
            <a:ext cx="10985500" cy="717550"/>
          </a:xfrm>
          <a:prstGeom prst="rect">
            <a:avLst/>
          </a:prstGeom>
        </p:spPr>
        <p:txBody>
          <a:bodyPr/>
          <a:lstStyle/>
          <a:p>
            <a:r>
              <a:t>議題のタイトル</a:t>
            </a:r>
          </a:p>
        </p:txBody>
      </p:sp>
      <p:sp>
        <p:nvSpPr>
          <p:cNvPr id="113" name="議題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1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議題のサブタイトル</a:t>
            </a:r>
          </a:p>
        </p:txBody>
      </p:sp>
      <p:sp>
        <p:nvSpPr>
          <p:cNvPr id="114" name="本文レベル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1pPr>
            <a:lvl2pPr marL="0" indent="171450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2pPr>
            <a:lvl3pPr marL="0" indent="342900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3pPr>
            <a:lvl4pPr marL="0" indent="514350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4pPr>
            <a:lvl5pPr marL="0" indent="685800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5pPr>
          </a:lstStyle>
          <a:p>
            <a:r>
              <a:t>議題のトピック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5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2724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3251" y="2460423"/>
            <a:ext cx="10985500" cy="1937157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/>
            </a:lvl1pPr>
            <a:lvl2pPr marL="0" indent="171450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/>
            </a:lvl2pPr>
            <a:lvl3pPr marL="0" indent="342900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/>
            </a:lvl3pPr>
            <a:lvl4pPr marL="0" indent="514350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/>
            </a:lvl4pPr>
            <a:lvl5pPr marL="0" indent="685800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/>
            </a:lvl5pPr>
          </a:lstStyle>
          <a:p>
            <a:r>
              <a:t>ステートメント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301589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603251" y="537964"/>
            <a:ext cx="10985500" cy="362079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9375" spc="-94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171450" algn="ctr">
              <a:lnSpc>
                <a:spcPct val="80000"/>
              </a:lnSpc>
              <a:spcBef>
                <a:spcPts val="0"/>
              </a:spcBef>
              <a:buSzTx/>
              <a:buNone/>
              <a:defRPr sz="9375" spc="-94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342900" algn="ctr">
              <a:lnSpc>
                <a:spcPct val="80000"/>
              </a:lnSpc>
              <a:spcBef>
                <a:spcPts val="0"/>
              </a:spcBef>
              <a:buSzTx/>
              <a:buNone/>
              <a:defRPr sz="9375" spc="-94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514350" algn="ctr">
              <a:lnSpc>
                <a:spcPct val="80000"/>
              </a:lnSpc>
              <a:spcBef>
                <a:spcPts val="0"/>
              </a:spcBef>
              <a:buSzTx/>
              <a:buNone/>
              <a:defRPr sz="9375" spc="-94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685800" algn="ctr">
              <a:lnSpc>
                <a:spcPct val="80000"/>
              </a:lnSpc>
              <a:spcBef>
                <a:spcPts val="0"/>
              </a:spcBef>
              <a:buSzTx/>
              <a:buNone/>
              <a:defRPr sz="9375" spc="-94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1" name="ファクト情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1" y="4131090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ファクト情報</a:t>
            </a:r>
          </a:p>
        </p:txBody>
      </p:sp>
      <p:sp>
        <p:nvSpPr>
          <p:cNvPr id="13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916470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属性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5012" y="5337727"/>
            <a:ext cx="10100027" cy="3184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属性</a:t>
            </a:r>
          </a:p>
        </p:txBody>
      </p:sp>
      <p:sp>
        <p:nvSpPr>
          <p:cNvPr id="140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76962" y="2469930"/>
            <a:ext cx="10438077" cy="1918140"/>
          </a:xfrm>
          <a:prstGeom prst="rect">
            <a:avLst/>
          </a:prstGeom>
        </p:spPr>
        <p:txBody>
          <a:bodyPr/>
          <a:lstStyle>
            <a:lvl1pPr marL="239596" indent="-176213">
              <a:spcBef>
                <a:spcPts val="0"/>
              </a:spcBef>
              <a:buSzTx/>
              <a:buNone/>
              <a:defRPr sz="3188" spc="-64"/>
            </a:lvl1pPr>
            <a:lvl2pPr marL="239596" indent="-4763">
              <a:spcBef>
                <a:spcPts val="0"/>
              </a:spcBef>
              <a:buSzTx/>
              <a:buNone/>
              <a:defRPr sz="3188" spc="-64"/>
            </a:lvl2pPr>
            <a:lvl3pPr marL="239596" indent="166688">
              <a:spcBef>
                <a:spcPts val="0"/>
              </a:spcBef>
              <a:buSzTx/>
              <a:buNone/>
              <a:defRPr sz="3188" spc="-64"/>
            </a:lvl3pPr>
            <a:lvl4pPr marL="239596" indent="338138">
              <a:spcBef>
                <a:spcPts val="0"/>
              </a:spcBef>
              <a:buSzTx/>
              <a:buNone/>
              <a:defRPr sz="3188" spc="-64"/>
            </a:lvl4pPr>
            <a:lvl5pPr marL="239596" indent="509588">
              <a:spcBef>
                <a:spcPts val="0"/>
              </a:spcBef>
              <a:buSzTx/>
              <a:buNone/>
              <a:defRPr sz="3188" spc="-64"/>
            </a:lvl5pPr>
          </a:lstStyle>
          <a:p>
            <a:r>
              <a:t>“重要な引用”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7412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イメージ"/>
          <p:cNvSpPr>
            <a:spLocks noGrp="1"/>
          </p:cNvSpPr>
          <p:nvPr>
            <p:ph type="pic" sz="quarter" idx="21"/>
          </p:nvPr>
        </p:nvSpPr>
        <p:spPr>
          <a:xfrm>
            <a:off x="7880351" y="508001"/>
            <a:ext cx="3719549" cy="297483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9" name="イメージ"/>
          <p:cNvSpPr>
            <a:spLocks noGrp="1"/>
          </p:cNvSpPr>
          <p:nvPr>
            <p:ph type="pic" sz="half" idx="22"/>
          </p:nvPr>
        </p:nvSpPr>
        <p:spPr>
          <a:xfrm>
            <a:off x="6750051" y="1989139"/>
            <a:ext cx="5219700" cy="607509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0" name="イメージ"/>
          <p:cNvSpPr>
            <a:spLocks noGrp="1"/>
          </p:cNvSpPr>
          <p:nvPr>
            <p:ph type="pic" idx="23"/>
          </p:nvPr>
        </p:nvSpPr>
        <p:spPr>
          <a:xfrm>
            <a:off x="-69851" y="247650"/>
            <a:ext cx="8305800" cy="62293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208964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イメージ"/>
          <p:cNvSpPr>
            <a:spLocks noGrp="1"/>
          </p:cNvSpPr>
          <p:nvPr>
            <p:ph type="pic" idx="21"/>
          </p:nvPr>
        </p:nvSpPr>
        <p:spPr>
          <a:xfrm>
            <a:off x="-666750" y="-2762250"/>
            <a:ext cx="13525500" cy="10820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961493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イメージ" descr="イメー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427" y="6002459"/>
            <a:ext cx="872880" cy="855543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593232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5977053" y="6536532"/>
            <a:ext cx="302967" cy="271227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308074">
              <a:defRPr sz="82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4737218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806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03251" y="539750"/>
            <a:ext cx="10985500" cy="71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スライドのタイトル</a:t>
            </a:r>
          </a:p>
        </p:txBody>
      </p:sp>
      <p:sp>
        <p:nvSpPr>
          <p:cNvPr id="3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603251" y="2124252"/>
            <a:ext cx="10985500" cy="412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5976660" y="6521334"/>
            <a:ext cx="232435" cy="20646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219075">
              <a:defRPr sz="675">
                <a:solidFill>
                  <a:srgbClr val="000000"/>
                </a:solidFill>
              </a:defRPr>
            </a:lvl1pPr>
          </a:lstStyle>
          <a:p>
            <a:pPr algn="ctr" hangingPunct="0"/>
            <a:fld id="{86CB4B4D-7CA3-9044-876B-883B54F8677D}" type="slidenum">
              <a:rPr kumimoji="0" kern="0">
                <a:latin typeface="ヒラギノ角ゴ ProN W3"/>
                <a:sym typeface="ヒラギノ角ゴ ProN W3"/>
              </a:rPr>
              <a:pPr algn="ctr" hangingPunct="0"/>
              <a:t>‹#›</a:t>
            </a:fld>
            <a:endParaRPr kumimoji="0" kern="0">
              <a:latin typeface="ヒラギノ角ゴ ProN W3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76539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</p:sldLayoutIdLst>
  <p:transition spd="med"/>
  <p:txStyles>
    <p:titleStyle>
      <a:lvl1pPr marL="0" marR="0" indent="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1pPr>
      <a:lvl2pPr marL="0" marR="0" indent="1714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2pPr>
      <a:lvl3pPr marL="0" marR="0" indent="3429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3pPr>
      <a:lvl4pPr marL="0" marR="0" indent="5143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4pPr>
      <a:lvl5pPr marL="0" marR="0" indent="6858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5pPr>
      <a:lvl6pPr marL="0" marR="0" indent="8572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6pPr>
      <a:lvl7pPr marL="0" marR="0" indent="10287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7pPr>
      <a:lvl8pPr marL="0" marR="0" indent="12001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8pPr>
      <a:lvl9pPr marL="0" marR="0" indent="13716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0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9pPr>
    </p:titleStyle>
    <p:bodyStyle>
      <a:lvl1pPr marL="228600" marR="0" indent="-228600" algn="l" defTabSz="914377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1pPr>
      <a:lvl2pPr marL="457200" marR="0" indent="-228600" algn="l" defTabSz="914377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2pPr>
      <a:lvl3pPr marL="685800" marR="0" indent="-228600" algn="l" defTabSz="914377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3pPr>
      <a:lvl4pPr marL="914400" marR="0" indent="-228600" algn="l" defTabSz="914377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4pPr>
      <a:lvl5pPr marL="1143000" marR="0" indent="-228600" algn="l" defTabSz="914377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5pPr>
      <a:lvl6pPr marL="1371600" marR="0" indent="-228600" algn="l" defTabSz="914377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6pPr>
      <a:lvl7pPr marL="1600200" marR="0" indent="-228600" algn="l" defTabSz="914377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7pPr>
      <a:lvl8pPr marL="1828800" marR="0" indent="-228600" algn="l" defTabSz="914377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8pPr>
      <a:lvl9pPr marL="2057400" marR="0" indent="-228600" algn="l" defTabSz="914377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9pPr>
    </p:bodyStyle>
    <p:otherStyle>
      <a:lvl1pPr marL="0" marR="0" indent="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1714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3429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5143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6858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8572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10287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12001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13716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サブタイトル 2">
            <a:extLst>
              <a:ext uri="{FF2B5EF4-FFF2-40B4-BE49-F238E27FC236}">
                <a16:creationId xmlns:a16="http://schemas.microsoft.com/office/drawing/2014/main" id="{05B4E7AB-C94B-45EC-874D-4A7FF492E601}"/>
              </a:ext>
            </a:extLst>
          </p:cNvPr>
          <p:cNvSpPr>
            <a:spLocks noGrp="1"/>
          </p:cNvSpPr>
          <p:nvPr/>
        </p:nvSpPr>
        <p:spPr>
          <a:xfrm>
            <a:off x="4007768" y="4869161"/>
            <a:ext cx="4320479" cy="12577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ja-JP">
              <a:solidFill>
                <a:schemeClr val="tx1">
                  <a:lumMod val="75000"/>
                </a:schemeClr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  <a:cs typeface="Arial" panose="020B0604020202020204" pitchFamily="34" charset="0"/>
            </a:endParaRPr>
          </a:p>
          <a:p>
            <a:r>
              <a:rPr lang="ja-JP" altLang="en-US">
                <a:solidFill>
                  <a:schemeClr val="tx1">
                    <a:lumMod val="75000"/>
                  </a:schemeClr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Arial" panose="020B0604020202020204" pitchFamily="34" charset="0"/>
              </a:rPr>
              <a:t>株式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Arial" panose="020B0604020202020204" pitchFamily="34" charset="0"/>
              </a:rPr>
              <a:t>会社オルテナジー</a:t>
            </a:r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1553D3C9-95E5-4E42-AD28-09E4811C03ED}"/>
              </a:ext>
            </a:extLst>
          </p:cNvPr>
          <p:cNvSpPr>
            <a:spLocks noGrp="1"/>
          </p:cNvSpPr>
          <p:nvPr/>
        </p:nvSpPr>
        <p:spPr>
          <a:xfrm>
            <a:off x="983432" y="2348880"/>
            <a:ext cx="10585176" cy="108546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ja-JP" sz="3600" b="1" dirty="0">
              <a:solidFill>
                <a:schemeClr val="tx1">
                  <a:lumMod val="75000"/>
                </a:schemeClr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  <a:cs typeface="Arial" panose="020B0604020202020204" pitchFamily="34" charset="0"/>
            </a:endParaRPr>
          </a:p>
          <a:p>
            <a:endParaRPr lang="en-US" altLang="ja-JP" sz="3600" b="1" dirty="0">
              <a:solidFill>
                <a:schemeClr val="tx1">
                  <a:lumMod val="75000"/>
                </a:schemeClr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  <a:cs typeface="Arial" panose="020B0604020202020204" pitchFamily="34" charset="0"/>
            </a:endParaRPr>
          </a:p>
          <a:p>
            <a:r>
              <a:rPr lang="ja-JP" altLang="en-US" sz="3600" b="1" dirty="0">
                <a:solidFill>
                  <a:schemeClr val="tx1">
                    <a:lumMod val="75000"/>
                  </a:schemeClr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Arial" panose="020B0604020202020204" pitchFamily="34" charset="0"/>
              </a:rPr>
              <a:t>第</a:t>
            </a:r>
            <a:r>
              <a:rPr lang="en-US" altLang="ja-JP" sz="3600" b="1" dirty="0">
                <a:solidFill>
                  <a:schemeClr val="tx1">
                    <a:lumMod val="75000"/>
                  </a:schemeClr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Arial" panose="020B0604020202020204" pitchFamily="34" charset="0"/>
              </a:rPr>
              <a:t>1</a:t>
            </a:r>
            <a:r>
              <a:rPr lang="ja-JP" altLang="en-US" sz="3600" b="1" dirty="0">
                <a:solidFill>
                  <a:schemeClr val="tx1">
                    <a:lumMod val="75000"/>
                  </a:schemeClr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Arial" panose="020B0604020202020204" pitchFamily="34" charset="0"/>
              </a:rPr>
              <a:t>６期（</a:t>
            </a:r>
            <a:r>
              <a:rPr lang="en-US" altLang="ja-JP" sz="3600" b="1" dirty="0">
                <a:solidFill>
                  <a:schemeClr val="tx1">
                    <a:lumMod val="75000"/>
                  </a:schemeClr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Arial" panose="020B0604020202020204" pitchFamily="34" charset="0"/>
              </a:rPr>
              <a:t>202</a:t>
            </a:r>
            <a:r>
              <a:rPr lang="ja-JP" altLang="en-US" sz="3600" b="1" dirty="0">
                <a:solidFill>
                  <a:schemeClr val="tx1">
                    <a:lumMod val="75000"/>
                  </a:schemeClr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Arial" panose="020B0604020202020204" pitchFamily="34" charset="0"/>
              </a:rPr>
              <a:t>５年</a:t>
            </a:r>
            <a:r>
              <a:rPr lang="en-US" altLang="ja-JP" sz="3600" b="1" dirty="0">
                <a:solidFill>
                  <a:schemeClr val="tx1">
                    <a:lumMod val="75000"/>
                  </a:schemeClr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Arial" panose="020B0604020202020204" pitchFamily="34" charset="0"/>
              </a:rPr>
              <a:t>9</a:t>
            </a:r>
            <a:r>
              <a:rPr lang="ja-JP" altLang="en-US" sz="3600" b="1" dirty="0">
                <a:solidFill>
                  <a:schemeClr val="tx1">
                    <a:lumMod val="75000"/>
                  </a:schemeClr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  <a:cs typeface="Arial" panose="020B0604020202020204" pitchFamily="34" charset="0"/>
              </a:rPr>
              <a:t>月期）　事業報告書</a:t>
            </a:r>
            <a:endParaRPr lang="en-US" altLang="ja-JP" sz="3600" b="1" dirty="0">
              <a:solidFill>
                <a:schemeClr val="tx1">
                  <a:lumMod val="75000"/>
                </a:schemeClr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  <a:cs typeface="Arial" panose="020B0604020202020204" pitchFamily="34" charset="0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11790750" y="6495973"/>
            <a:ext cx="274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</a:schemeClr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脳卒中は世界４大疾患の１つ。世界でも先進国・中産国・発展途上国であまねく疾患負荷（DALY）が高い。…"/>
          <p:cNvSpPr txBox="1"/>
          <p:nvPr/>
        </p:nvSpPr>
        <p:spPr>
          <a:xfrm>
            <a:off x="11005409" y="78703"/>
            <a:ext cx="1186591" cy="355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17999"/>
              </a:lnSpc>
              <a:defRPr sz="1800">
                <a:latin typeface="+mn-lt"/>
                <a:ea typeface="+mn-ea"/>
                <a:cs typeface="+mn-cs"/>
                <a:sym typeface="ヒラギノ角ゴ ProN W3"/>
              </a:defRPr>
            </a:pPr>
            <a:r>
              <a:rPr lang="en-US" altLang="ja-JP" sz="1600" dirty="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Confidential</a:t>
            </a:r>
            <a:endParaRPr lang="en-US" sz="1600" dirty="0">
              <a:solidFill>
                <a:srgbClr val="FF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519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歩行機能解析システムイメージ"/>
          <p:cNvSpPr txBox="1">
            <a:spLocks/>
          </p:cNvSpPr>
          <p:nvPr/>
        </p:nvSpPr>
        <p:spPr>
          <a:xfrm>
            <a:off x="263352" y="176680"/>
            <a:ext cx="9289032" cy="38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199943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20" b="1" i="0" u="none" strike="noStrike" cap="none" spc="-98" baseline="0">
                <a:solidFill>
                  <a:srgbClr val="292942"/>
                </a:solidFill>
                <a:uFillTx/>
                <a:latin typeface="メイリオ"/>
                <a:ea typeface="メイリオ"/>
                <a:cs typeface="メイリオ"/>
                <a:sym typeface="メイリオ"/>
              </a:defRPr>
            </a:lvl1pPr>
            <a:lvl2pPr marL="0" marR="0" indent="1714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2pPr>
            <a:lvl3pPr marL="0" marR="0" indent="3429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3pPr>
            <a:lvl4pPr marL="0" marR="0" indent="5143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4pPr>
            <a:lvl5pPr marL="0" marR="0" indent="6858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5pPr>
            <a:lvl6pPr marL="0" marR="0" indent="8572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6pPr>
            <a:lvl7pPr marL="0" marR="0" indent="10287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7pPr>
            <a:lvl8pPr marL="0" marR="0" indent="12001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8pPr>
            <a:lvl9pPr marL="0" marR="0" indent="13716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9pPr>
          </a:lstStyle>
          <a:p>
            <a:r>
              <a:rPr kumimoji="0" lang="ja-JP" altLang="en-US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１</a:t>
            </a:r>
            <a:r>
              <a:rPr kumimoji="0" lang="en-US" altLang="ja-JP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 </a:t>
            </a:r>
            <a:r>
              <a:rPr kumimoji="0" lang="ja-JP" altLang="en-US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事業の経過及びその成果</a:t>
            </a:r>
          </a:p>
        </p:txBody>
      </p:sp>
      <p:sp>
        <p:nvSpPr>
          <p:cNvPr id="19" name="正方形/長方形 18"/>
          <p:cNvSpPr/>
          <p:nvPr/>
        </p:nvSpPr>
        <p:spPr>
          <a:xfrm>
            <a:off x="11790750" y="6495973"/>
            <a:ext cx="274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</a:schemeClr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7" name="脳卒中は世界４大疾患の１つ。世界でも先進国・中産国・発展途上国であまねく疾患負荷（DALY）が高い。…"/>
          <p:cNvSpPr txBox="1"/>
          <p:nvPr/>
        </p:nvSpPr>
        <p:spPr>
          <a:xfrm>
            <a:off x="11005409" y="78703"/>
            <a:ext cx="1186591" cy="355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17999"/>
              </a:lnSpc>
              <a:defRPr sz="1800">
                <a:latin typeface="+mn-lt"/>
                <a:ea typeface="+mn-ea"/>
                <a:cs typeface="+mn-cs"/>
                <a:sym typeface="ヒラギノ角ゴ ProN W3"/>
              </a:defRPr>
            </a:pPr>
            <a:r>
              <a:rPr lang="en-US" altLang="ja-JP" sz="1600" dirty="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Confidential</a:t>
            </a:r>
            <a:endParaRPr lang="en-US" sz="1600" dirty="0">
              <a:solidFill>
                <a:srgbClr val="FF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6664788-688F-8F78-9A00-B409FE23A23E}"/>
              </a:ext>
            </a:extLst>
          </p:cNvPr>
          <p:cNvSpPr txBox="1"/>
          <p:nvPr/>
        </p:nvSpPr>
        <p:spPr>
          <a:xfrm>
            <a:off x="551384" y="820593"/>
            <a:ext cx="10728698" cy="60478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売上は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21.1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億円（前年比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79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％）となりました。売上減少の要因は以下の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3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点が挙げられます。</a:t>
            </a:r>
            <a:b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</a:b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）期ズレによる　 　　　期末時点で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EPC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の受注残及び見込額は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21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億円を保有</a:t>
            </a:r>
            <a:b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</a:b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2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）パワまるシフト　 　　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15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期に開始した「パワまる」の事業活動のために人的資源を投入</a:t>
            </a:r>
            <a:b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</a:b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3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）戦略的取引見直し　適正な取引をすすめるため、一部事業の中止を実施</a:t>
            </a:r>
            <a:endParaRPr kumimoji="0" lang="en-US" altLang="ja-JP" kern="0" dirty="0">
              <a:solidFill>
                <a:schemeClr val="tx1">
                  <a:lumMod val="75000"/>
                </a:schemeClr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　　</a:t>
            </a:r>
            <a:endParaRPr kumimoji="0" lang="en-US" altLang="ja-JP" kern="0" dirty="0">
              <a:solidFill>
                <a:schemeClr val="tx1">
                  <a:lumMod val="75000"/>
                </a:schemeClr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設備容量は小型化の傾向　１契約あたりの設備の容量は小型化の傾向となりました。</a:t>
            </a:r>
            <a:b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</a:b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（平均容量は、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EPC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：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168kW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、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PPA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：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278kW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　それぞれ前年の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60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％程度）</a:t>
            </a:r>
            <a:endParaRPr kumimoji="0" lang="en-US" altLang="ja-JP" kern="0" dirty="0">
              <a:solidFill>
                <a:schemeClr val="tx1">
                  <a:lumMod val="75000"/>
                </a:schemeClr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endParaRPr kumimoji="0" lang="en-US" altLang="ja-JP" kern="0" dirty="0">
              <a:solidFill>
                <a:schemeClr val="tx1">
                  <a:lumMod val="75000"/>
                </a:schemeClr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原価の低減と施工の効率化が進み、粗利率は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33.6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％に向上（前期</a:t>
            </a:r>
            <a:r>
              <a:rPr kumimoji="0" lang="en-US" altLang="ja-JP" sz="1800" b="0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31.8</a:t>
            </a:r>
            <a:r>
              <a:rPr kumimoji="0" lang="ja-JP" altLang="en-US" sz="1800" b="0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％、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前々</a:t>
            </a:r>
            <a:r>
              <a:rPr kumimoji="0" lang="ja-JP" altLang="en-US" sz="1800" b="0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期</a:t>
            </a:r>
            <a:r>
              <a:rPr kumimoji="0" lang="en-US" altLang="ja-JP" sz="1800" b="0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22.2</a:t>
            </a:r>
            <a:r>
              <a:rPr kumimoji="0" lang="ja-JP" altLang="en-US" sz="1800" b="0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％）しました。</a:t>
            </a:r>
            <a:endParaRPr kumimoji="0" lang="en-US" altLang="ja-JP" sz="1800" b="0" kern="0" dirty="0">
              <a:solidFill>
                <a:schemeClr val="tx1">
                  <a:lumMod val="75000"/>
                </a:schemeClr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endParaRPr kumimoji="0" lang="en-US" altLang="ja-JP" kern="0" dirty="0">
              <a:solidFill>
                <a:schemeClr val="tx1">
                  <a:lumMod val="75000"/>
                </a:schemeClr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新規事業のパワまるは、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122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件を受注、売上は</a:t>
            </a:r>
            <a:r>
              <a:rPr kumimoji="0" lang="en-US" altLang="ja-JP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2.7</a:t>
            </a:r>
            <a:r>
              <a:rPr kumimoji="0" lang="ja-JP" altLang="en-US" kern="0" dirty="0">
                <a:solidFill>
                  <a:schemeClr val="tx1">
                    <a:lumMod val="75000"/>
                  </a:schemeClr>
                </a:solidFill>
                <a:latin typeface="MS UI Gothic" panose="020B0600070205080204" pitchFamily="50" charset="-128"/>
                <a:ea typeface="MS UI Gothic" panose="020B0600070205080204" pitchFamily="50" charset="-128"/>
              </a:rPr>
              <a:t>憶円を計上しました。</a:t>
            </a:r>
            <a:endParaRPr kumimoji="0" lang="en-US" altLang="ja-JP" kern="0" dirty="0">
              <a:solidFill>
                <a:schemeClr val="tx1">
                  <a:lumMod val="75000"/>
                </a:schemeClr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endParaRPr kumimoji="0" lang="en-US" altLang="ja-JP" sz="1200" b="0" kern="0" dirty="0">
              <a:solidFill>
                <a:schemeClr val="tx1">
                  <a:lumMod val="75000"/>
                </a:schemeClr>
              </a:solidFill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継続して採用に注力、新卒</a:t>
            </a:r>
            <a:r>
              <a:rPr kumimoji="0" lang="en-US" altLang="ja-JP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6</a:t>
            </a:r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名、中途</a:t>
            </a:r>
            <a:r>
              <a:rPr kumimoji="0" lang="en-US" altLang="ja-JP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19</a:t>
            </a:r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名、計</a:t>
            </a:r>
            <a:r>
              <a:rPr kumimoji="0" lang="en-US" altLang="ja-JP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25</a:t>
            </a:r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名を採用しました。</a:t>
            </a:r>
            <a:r>
              <a:rPr kumimoji="0" lang="ja-JP" altLang="en-US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　（期末時の従事員数は</a:t>
            </a:r>
            <a:r>
              <a:rPr kumimoji="0" lang="en-US" altLang="ja-JP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70</a:t>
            </a:r>
            <a:r>
              <a:rPr kumimoji="0" lang="ja-JP" altLang="en-US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名）</a:t>
            </a:r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>
              <a:lnSpc>
                <a:spcPct val="150000"/>
              </a:lnSpc>
            </a:pPr>
            <a:endParaRPr kumimoji="0" lang="en-US" altLang="ja-JP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endParaRPr kumimoji="0" lang="en-US" altLang="ja-JP" sz="1800" b="0" kern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002835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歩行機能解析システムイメージ"/>
          <p:cNvSpPr txBox="1">
            <a:spLocks/>
          </p:cNvSpPr>
          <p:nvPr/>
        </p:nvSpPr>
        <p:spPr>
          <a:xfrm>
            <a:off x="263352" y="176680"/>
            <a:ext cx="9289032" cy="38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199943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20" b="1" i="0" u="none" strike="noStrike" cap="none" spc="-98" baseline="0">
                <a:solidFill>
                  <a:srgbClr val="292942"/>
                </a:solidFill>
                <a:uFillTx/>
                <a:latin typeface="メイリオ"/>
                <a:ea typeface="メイリオ"/>
                <a:cs typeface="メイリオ"/>
                <a:sym typeface="メイリオ"/>
              </a:defRPr>
            </a:lvl1pPr>
            <a:lvl2pPr marL="0" marR="0" indent="1714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2pPr>
            <a:lvl3pPr marL="0" marR="0" indent="3429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3pPr>
            <a:lvl4pPr marL="0" marR="0" indent="5143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4pPr>
            <a:lvl5pPr marL="0" marR="0" indent="6858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5pPr>
            <a:lvl6pPr marL="0" marR="0" indent="8572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6pPr>
            <a:lvl7pPr marL="0" marR="0" indent="10287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7pPr>
            <a:lvl8pPr marL="0" marR="0" indent="12001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8pPr>
            <a:lvl9pPr marL="0" marR="0" indent="13716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9pPr>
          </a:lstStyle>
          <a:p>
            <a:r>
              <a:rPr kumimoji="0" lang="ja-JP" altLang="en-US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２</a:t>
            </a:r>
            <a:r>
              <a:rPr kumimoji="0" lang="en-US" altLang="ja-JP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 </a:t>
            </a:r>
            <a:r>
              <a:rPr kumimoji="0" lang="ja-JP" altLang="en-US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直前三事業年度の財産及び損益の状況</a:t>
            </a:r>
            <a:endParaRPr kumimoji="0" lang="en-US" altLang="ja-JP" sz="1800" b="0" kern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11790750" y="6495973"/>
            <a:ext cx="274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</a:schemeClr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7" name="脳卒中は世界４大疾患の１つ。世界でも先進国・中産国・発展途上国であまねく疾患負荷（DALY）が高い。…"/>
          <p:cNvSpPr txBox="1"/>
          <p:nvPr/>
        </p:nvSpPr>
        <p:spPr>
          <a:xfrm>
            <a:off x="11005409" y="78703"/>
            <a:ext cx="1186591" cy="355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17999"/>
              </a:lnSpc>
              <a:defRPr sz="1800">
                <a:latin typeface="+mn-lt"/>
                <a:ea typeface="+mn-ea"/>
                <a:cs typeface="+mn-cs"/>
                <a:sym typeface="ヒラギノ角ゴ ProN W3"/>
              </a:defRPr>
            </a:pPr>
            <a:r>
              <a:rPr lang="en-US" altLang="ja-JP" sz="1600" dirty="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Confidential</a:t>
            </a:r>
            <a:endParaRPr lang="en-US" sz="1600" dirty="0">
              <a:solidFill>
                <a:srgbClr val="FF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9E662BBB-FE98-2B31-B4AC-BA130D3EC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610355"/>
              </p:ext>
            </p:extLst>
          </p:nvPr>
        </p:nvGraphicFramePr>
        <p:xfrm>
          <a:off x="623392" y="764704"/>
          <a:ext cx="10225135" cy="5449333"/>
        </p:xfrm>
        <a:graphic>
          <a:graphicData uri="http://schemas.openxmlformats.org/drawingml/2006/table">
            <a:tbl>
              <a:tblPr/>
              <a:tblGrid>
                <a:gridCol w="637538">
                  <a:extLst>
                    <a:ext uri="{9D8B030D-6E8A-4147-A177-3AD203B41FA5}">
                      <a16:colId xmlns:a16="http://schemas.microsoft.com/office/drawing/2014/main" val="117919160"/>
                    </a:ext>
                  </a:extLst>
                </a:gridCol>
                <a:gridCol w="2513374">
                  <a:extLst>
                    <a:ext uri="{9D8B030D-6E8A-4147-A177-3AD203B41FA5}">
                      <a16:colId xmlns:a16="http://schemas.microsoft.com/office/drawing/2014/main" val="763146187"/>
                    </a:ext>
                  </a:extLst>
                </a:gridCol>
                <a:gridCol w="1728710">
                  <a:extLst>
                    <a:ext uri="{9D8B030D-6E8A-4147-A177-3AD203B41FA5}">
                      <a16:colId xmlns:a16="http://schemas.microsoft.com/office/drawing/2014/main" val="4036149884"/>
                    </a:ext>
                  </a:extLst>
                </a:gridCol>
                <a:gridCol w="416852">
                  <a:extLst>
                    <a:ext uri="{9D8B030D-6E8A-4147-A177-3AD203B41FA5}">
                      <a16:colId xmlns:a16="http://schemas.microsoft.com/office/drawing/2014/main" val="3086541719"/>
                    </a:ext>
                  </a:extLst>
                </a:gridCol>
                <a:gridCol w="1728710">
                  <a:extLst>
                    <a:ext uri="{9D8B030D-6E8A-4147-A177-3AD203B41FA5}">
                      <a16:colId xmlns:a16="http://schemas.microsoft.com/office/drawing/2014/main" val="279874545"/>
                    </a:ext>
                  </a:extLst>
                </a:gridCol>
                <a:gridCol w="416852">
                  <a:extLst>
                    <a:ext uri="{9D8B030D-6E8A-4147-A177-3AD203B41FA5}">
                      <a16:colId xmlns:a16="http://schemas.microsoft.com/office/drawing/2014/main" val="3621061884"/>
                    </a:ext>
                  </a:extLst>
                </a:gridCol>
                <a:gridCol w="1740971">
                  <a:extLst>
                    <a:ext uri="{9D8B030D-6E8A-4147-A177-3AD203B41FA5}">
                      <a16:colId xmlns:a16="http://schemas.microsoft.com/office/drawing/2014/main" val="1794617503"/>
                    </a:ext>
                  </a:extLst>
                </a:gridCol>
                <a:gridCol w="404590">
                  <a:extLst>
                    <a:ext uri="{9D8B030D-6E8A-4147-A177-3AD203B41FA5}">
                      <a16:colId xmlns:a16="http://schemas.microsoft.com/office/drawing/2014/main" val="2857394700"/>
                    </a:ext>
                  </a:extLst>
                </a:gridCol>
                <a:gridCol w="637538">
                  <a:extLst>
                    <a:ext uri="{9D8B030D-6E8A-4147-A177-3AD203B41FA5}">
                      <a16:colId xmlns:a16="http://schemas.microsoft.com/office/drawing/2014/main" val="3958753803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584832"/>
                  </a:ext>
                </a:extLst>
              </a:tr>
              <a:tr h="711851"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2023</a:t>
                      </a:r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年</a:t>
                      </a:r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9</a:t>
                      </a:r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月期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2024</a:t>
                      </a:r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年</a:t>
                      </a:r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9</a:t>
                      </a:r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月期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2025</a:t>
                      </a:r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年</a:t>
                      </a:r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9</a:t>
                      </a:r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月期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886256"/>
                  </a:ext>
                </a:extLst>
              </a:tr>
              <a:tr h="711851"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  <a:r>
                        <a:rPr lang="ja-JP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売上高　　</a:t>
                      </a:r>
                      <a:r>
                        <a:rPr lang="ja-JP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（千円）</a:t>
                      </a:r>
                      <a:endParaRPr lang="ja-JP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2,739,896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2,982,411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2,112,445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672823"/>
                  </a:ext>
                </a:extLst>
              </a:tr>
              <a:tr h="711851"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  <a:r>
                        <a:rPr lang="ja-JP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当期純利益</a:t>
                      </a:r>
                      <a:r>
                        <a:rPr lang="ja-JP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（千円）</a:t>
                      </a:r>
                      <a:endParaRPr lang="ja-JP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34,023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108,717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30,800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54331"/>
                  </a:ext>
                </a:extLst>
              </a:tr>
              <a:tr h="711851"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  <a:r>
                        <a:rPr lang="zh-TW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純資産額　</a:t>
                      </a:r>
                      <a:r>
                        <a:rPr lang="zh-TW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（千円）</a:t>
                      </a:r>
                      <a:endParaRPr lang="zh-TW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281,225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389,942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420,743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030794"/>
                  </a:ext>
                </a:extLst>
              </a:tr>
              <a:tr h="711851"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  <a:r>
                        <a:rPr lang="zh-TW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総資産額　</a:t>
                      </a:r>
                      <a:r>
                        <a:rPr lang="zh-TW" alt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（千円）</a:t>
                      </a:r>
                      <a:endParaRPr lang="zh-TW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1,348,420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1,489,547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1,469,476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887668"/>
                  </a:ext>
                </a:extLst>
              </a:tr>
              <a:tr h="381422"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3029426"/>
                  </a:ext>
                </a:extLst>
              </a:tr>
              <a:tr h="788576"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 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株あたり当期純利益</a:t>
                      </a:r>
                      <a:b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</a:br>
                      <a:r>
                        <a:rPr lang="ja-JP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　　　　　（円）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839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2,681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759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9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166163"/>
                  </a:ext>
                </a:extLst>
              </a:tr>
            </a:tbl>
          </a:graphicData>
        </a:graphic>
      </p:graphicFrame>
      <p:sp>
        <p:nvSpPr>
          <p:cNvPr id="2" name="歩行機能解析システムイメージ">
            <a:extLst>
              <a:ext uri="{FF2B5EF4-FFF2-40B4-BE49-F238E27FC236}">
                <a16:creationId xmlns:a16="http://schemas.microsoft.com/office/drawing/2014/main" id="{5A797358-334C-A07A-E6F8-57E72310B680}"/>
              </a:ext>
            </a:extLst>
          </p:cNvPr>
          <p:cNvSpPr txBox="1">
            <a:spLocks/>
          </p:cNvSpPr>
          <p:nvPr/>
        </p:nvSpPr>
        <p:spPr>
          <a:xfrm>
            <a:off x="84584" y="794485"/>
            <a:ext cx="12107416" cy="38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199943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20" b="1" i="0" u="none" strike="noStrike" cap="none" spc="-98" baseline="0">
                <a:solidFill>
                  <a:srgbClr val="292942"/>
                </a:solidFill>
                <a:uFillTx/>
                <a:latin typeface="メイリオ"/>
                <a:ea typeface="メイリオ"/>
                <a:cs typeface="メイリオ"/>
                <a:sym typeface="メイリオ"/>
              </a:defRPr>
            </a:lvl1pPr>
            <a:lvl2pPr marL="0" marR="0" indent="1714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2pPr>
            <a:lvl3pPr marL="0" marR="0" indent="3429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3pPr>
            <a:lvl4pPr marL="0" marR="0" indent="5143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4pPr>
            <a:lvl5pPr marL="0" marR="0" indent="6858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5pPr>
            <a:lvl6pPr marL="0" marR="0" indent="8572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6pPr>
            <a:lvl7pPr marL="0" marR="0" indent="10287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7pPr>
            <a:lvl8pPr marL="0" marR="0" indent="12001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8pPr>
            <a:lvl9pPr marL="0" marR="0" indent="13716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endParaRPr kumimoji="0" lang="en-US" altLang="ja-JP" sz="1200" b="0" kern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5809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歩行機能解析システムイメージ"/>
          <p:cNvSpPr txBox="1">
            <a:spLocks/>
          </p:cNvSpPr>
          <p:nvPr/>
        </p:nvSpPr>
        <p:spPr>
          <a:xfrm>
            <a:off x="263352" y="176680"/>
            <a:ext cx="9289032" cy="38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199943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20" b="1" i="0" u="none" strike="noStrike" cap="none" spc="-98" baseline="0">
                <a:solidFill>
                  <a:srgbClr val="292942"/>
                </a:solidFill>
                <a:uFillTx/>
                <a:latin typeface="メイリオ"/>
                <a:ea typeface="メイリオ"/>
                <a:cs typeface="メイリオ"/>
                <a:sym typeface="メイリオ"/>
              </a:defRPr>
            </a:lvl1pPr>
            <a:lvl2pPr marL="0" marR="0" indent="1714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2pPr>
            <a:lvl3pPr marL="0" marR="0" indent="3429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3pPr>
            <a:lvl4pPr marL="0" marR="0" indent="5143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4pPr>
            <a:lvl5pPr marL="0" marR="0" indent="6858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5pPr>
            <a:lvl6pPr marL="0" marR="0" indent="8572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6pPr>
            <a:lvl7pPr marL="0" marR="0" indent="10287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7pPr>
            <a:lvl8pPr marL="0" marR="0" indent="12001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8pPr>
            <a:lvl9pPr marL="0" marR="0" indent="13716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9pPr>
          </a:lstStyle>
          <a:p>
            <a:r>
              <a:rPr kumimoji="0" lang="ja-JP" altLang="en-US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３</a:t>
            </a:r>
            <a:r>
              <a:rPr kumimoji="0" lang="en-US" altLang="ja-JP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 </a:t>
            </a:r>
            <a:r>
              <a:rPr kumimoji="0" lang="ja-JP" altLang="en-US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直前三事業年度の損益の状況　</a:t>
            </a:r>
          </a:p>
        </p:txBody>
      </p:sp>
      <p:sp>
        <p:nvSpPr>
          <p:cNvPr id="19" name="正方形/長方形 18"/>
          <p:cNvSpPr/>
          <p:nvPr/>
        </p:nvSpPr>
        <p:spPr>
          <a:xfrm>
            <a:off x="11790750" y="6495973"/>
            <a:ext cx="274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</a:schemeClr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7" name="脳卒中は世界４大疾患の１つ。世界でも先進国・中産国・発展途上国であまねく疾患負荷（DALY）が高い。…"/>
          <p:cNvSpPr txBox="1"/>
          <p:nvPr/>
        </p:nvSpPr>
        <p:spPr>
          <a:xfrm>
            <a:off x="11005409" y="78703"/>
            <a:ext cx="1186591" cy="355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17999"/>
              </a:lnSpc>
              <a:defRPr sz="1800">
                <a:latin typeface="+mn-lt"/>
                <a:ea typeface="+mn-ea"/>
                <a:cs typeface="+mn-cs"/>
                <a:sym typeface="ヒラギノ角ゴ ProN W3"/>
              </a:defRPr>
            </a:pPr>
            <a:r>
              <a:rPr lang="en-US" altLang="ja-JP" sz="1600" dirty="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Confidential</a:t>
            </a:r>
            <a:endParaRPr lang="en-US" sz="1600" dirty="0">
              <a:solidFill>
                <a:srgbClr val="FF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2" name="歩行機能解析システムイメージ"/>
          <p:cNvSpPr txBox="1">
            <a:spLocks/>
          </p:cNvSpPr>
          <p:nvPr/>
        </p:nvSpPr>
        <p:spPr>
          <a:xfrm>
            <a:off x="84584" y="794485"/>
            <a:ext cx="12107416" cy="38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199943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20" b="1" i="0" u="none" strike="noStrike" cap="none" spc="-98" baseline="0">
                <a:solidFill>
                  <a:srgbClr val="292942"/>
                </a:solidFill>
                <a:uFillTx/>
                <a:latin typeface="メイリオ"/>
                <a:ea typeface="メイリオ"/>
                <a:cs typeface="メイリオ"/>
                <a:sym typeface="メイリオ"/>
              </a:defRPr>
            </a:lvl1pPr>
            <a:lvl2pPr marL="0" marR="0" indent="1714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2pPr>
            <a:lvl3pPr marL="0" marR="0" indent="3429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3pPr>
            <a:lvl4pPr marL="0" marR="0" indent="5143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4pPr>
            <a:lvl5pPr marL="0" marR="0" indent="6858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5pPr>
            <a:lvl6pPr marL="0" marR="0" indent="8572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6pPr>
            <a:lvl7pPr marL="0" marR="0" indent="10287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7pPr>
            <a:lvl8pPr marL="0" marR="0" indent="12001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8pPr>
            <a:lvl9pPr marL="0" marR="0" indent="13716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endParaRPr kumimoji="0" lang="en-US" altLang="ja-JP" sz="1200" b="0" kern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2B7E05F5-6D9E-AD27-A434-843DF362B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32295"/>
              </p:ext>
            </p:extLst>
          </p:nvPr>
        </p:nvGraphicFramePr>
        <p:xfrm>
          <a:off x="623392" y="939404"/>
          <a:ext cx="10225138" cy="5556569"/>
        </p:xfrm>
        <a:graphic>
          <a:graphicData uri="http://schemas.openxmlformats.org/drawingml/2006/table">
            <a:tbl>
              <a:tblPr/>
              <a:tblGrid>
                <a:gridCol w="637539">
                  <a:extLst>
                    <a:ext uri="{9D8B030D-6E8A-4147-A177-3AD203B41FA5}">
                      <a16:colId xmlns:a16="http://schemas.microsoft.com/office/drawing/2014/main" val="1670168997"/>
                    </a:ext>
                  </a:extLst>
                </a:gridCol>
                <a:gridCol w="2513372">
                  <a:extLst>
                    <a:ext uri="{9D8B030D-6E8A-4147-A177-3AD203B41FA5}">
                      <a16:colId xmlns:a16="http://schemas.microsoft.com/office/drawing/2014/main" val="851742627"/>
                    </a:ext>
                  </a:extLst>
                </a:gridCol>
                <a:gridCol w="1728710">
                  <a:extLst>
                    <a:ext uri="{9D8B030D-6E8A-4147-A177-3AD203B41FA5}">
                      <a16:colId xmlns:a16="http://schemas.microsoft.com/office/drawing/2014/main" val="758582268"/>
                    </a:ext>
                  </a:extLst>
                </a:gridCol>
                <a:gridCol w="416854">
                  <a:extLst>
                    <a:ext uri="{9D8B030D-6E8A-4147-A177-3AD203B41FA5}">
                      <a16:colId xmlns:a16="http://schemas.microsoft.com/office/drawing/2014/main" val="3540430345"/>
                    </a:ext>
                  </a:extLst>
                </a:gridCol>
                <a:gridCol w="1728710">
                  <a:extLst>
                    <a:ext uri="{9D8B030D-6E8A-4147-A177-3AD203B41FA5}">
                      <a16:colId xmlns:a16="http://schemas.microsoft.com/office/drawing/2014/main" val="4067508143"/>
                    </a:ext>
                  </a:extLst>
                </a:gridCol>
                <a:gridCol w="416854">
                  <a:extLst>
                    <a:ext uri="{9D8B030D-6E8A-4147-A177-3AD203B41FA5}">
                      <a16:colId xmlns:a16="http://schemas.microsoft.com/office/drawing/2014/main" val="2087186319"/>
                    </a:ext>
                  </a:extLst>
                </a:gridCol>
                <a:gridCol w="1740970">
                  <a:extLst>
                    <a:ext uri="{9D8B030D-6E8A-4147-A177-3AD203B41FA5}">
                      <a16:colId xmlns:a16="http://schemas.microsoft.com/office/drawing/2014/main" val="2670023394"/>
                    </a:ext>
                  </a:extLst>
                </a:gridCol>
                <a:gridCol w="404590">
                  <a:extLst>
                    <a:ext uri="{9D8B030D-6E8A-4147-A177-3AD203B41FA5}">
                      <a16:colId xmlns:a16="http://schemas.microsoft.com/office/drawing/2014/main" val="1908861745"/>
                    </a:ext>
                  </a:extLst>
                </a:gridCol>
                <a:gridCol w="637539">
                  <a:extLst>
                    <a:ext uri="{9D8B030D-6E8A-4147-A177-3AD203B41FA5}">
                      <a16:colId xmlns:a16="http://schemas.microsoft.com/office/drawing/2014/main" val="1657427914"/>
                    </a:ext>
                  </a:extLst>
                </a:gridCol>
              </a:tblGrid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単位：千円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750850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2023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年</a:t>
                      </a:r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9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月期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2024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年</a:t>
                      </a:r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9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月期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2025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年</a:t>
                      </a:r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9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月期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220201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(PPA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の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EPC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売上）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1,513,000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837,408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547,204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770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(EPC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売上）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1,063,000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1,949,158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970,561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102050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(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その他売上）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163,896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195,845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594,680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2798060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売上高合計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2,739,896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2,982,411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2,112,445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089658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売上総利益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607,542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948,806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711,647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5899323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販管費</a:t>
                      </a:r>
                      <a:r>
                        <a:rPr lang="en-US" altLang="zh-TW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/</a:t>
                      </a:r>
                      <a:r>
                        <a:rPr lang="zh-TW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一般管理費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539,501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680,932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665,491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45658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営業利益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68,041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267,873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46,155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712562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営業外収益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7,725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7,522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9,988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3900363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営業外費用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7,072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10515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9,829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693199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経常利益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68,695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264,881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46,314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232925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法人税等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13,824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53,210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4,675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393355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当期純利益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34,023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108,717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30,800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334930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PPA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容量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10,639.78kW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5,569.87kW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4,433.41kW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9888601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EPC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容量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9,665.87kW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13,788.92kW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5,627.77kW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375539"/>
                  </a:ext>
                </a:extLst>
              </a:tr>
              <a:tr h="326857"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PPA+EPC</a:t>
                      </a:r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容量合計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20,305.65kW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19,358.79kW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10,061.18kW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2897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50023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歩行機能解析システムイメージ"/>
          <p:cNvSpPr txBox="1">
            <a:spLocks/>
          </p:cNvSpPr>
          <p:nvPr/>
        </p:nvSpPr>
        <p:spPr>
          <a:xfrm>
            <a:off x="263352" y="176680"/>
            <a:ext cx="9289032" cy="38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199943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20" b="1" i="0" u="none" strike="noStrike" cap="none" spc="-98" baseline="0">
                <a:solidFill>
                  <a:srgbClr val="292942"/>
                </a:solidFill>
                <a:uFillTx/>
                <a:latin typeface="メイリオ"/>
                <a:ea typeface="メイリオ"/>
                <a:cs typeface="メイリオ"/>
                <a:sym typeface="メイリオ"/>
              </a:defRPr>
            </a:lvl1pPr>
            <a:lvl2pPr marL="0" marR="0" indent="1714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2pPr>
            <a:lvl3pPr marL="0" marR="0" indent="3429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3pPr>
            <a:lvl4pPr marL="0" marR="0" indent="5143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4pPr>
            <a:lvl5pPr marL="0" marR="0" indent="6858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5pPr>
            <a:lvl6pPr marL="0" marR="0" indent="8572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6pPr>
            <a:lvl7pPr marL="0" marR="0" indent="10287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7pPr>
            <a:lvl8pPr marL="0" marR="0" indent="12001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8pPr>
            <a:lvl9pPr marL="0" marR="0" indent="13716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9pPr>
          </a:lstStyle>
          <a:p>
            <a:r>
              <a:rPr kumimoji="0" lang="ja-JP" altLang="en-US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４</a:t>
            </a:r>
            <a:r>
              <a:rPr kumimoji="0" lang="en-US" altLang="ja-JP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 </a:t>
            </a:r>
            <a:r>
              <a:rPr kumimoji="0" lang="ja-JP" altLang="en-US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対処すべき課題</a:t>
            </a:r>
          </a:p>
        </p:txBody>
      </p:sp>
      <p:sp>
        <p:nvSpPr>
          <p:cNvPr id="11" name="歩行機能解析システムイメージ"/>
          <p:cNvSpPr txBox="1">
            <a:spLocks/>
          </p:cNvSpPr>
          <p:nvPr/>
        </p:nvSpPr>
        <p:spPr>
          <a:xfrm>
            <a:off x="568066" y="836627"/>
            <a:ext cx="11377264" cy="5256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199943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20" b="1" i="0" u="none" strike="noStrike" cap="none" spc="-98" baseline="0">
                <a:solidFill>
                  <a:srgbClr val="292942"/>
                </a:solidFill>
                <a:uFillTx/>
                <a:latin typeface="メイリオ"/>
                <a:ea typeface="メイリオ"/>
                <a:cs typeface="メイリオ"/>
                <a:sym typeface="メイリオ"/>
              </a:defRPr>
            </a:lvl1pPr>
            <a:lvl2pPr marL="0" marR="0" indent="1714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2pPr>
            <a:lvl3pPr marL="0" marR="0" indent="3429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3pPr>
            <a:lvl4pPr marL="0" marR="0" indent="5143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4pPr>
            <a:lvl5pPr marL="0" marR="0" indent="6858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5pPr>
            <a:lvl6pPr marL="0" marR="0" indent="8572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6pPr>
            <a:lvl7pPr marL="0" marR="0" indent="10287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7pPr>
            <a:lvl8pPr marL="0" marR="0" indent="12001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8pPr>
            <a:lvl9pPr marL="0" marR="0" indent="13716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9pPr>
          </a:lstStyle>
          <a:p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当社グループが継続的に成長を続けていくために</a:t>
            </a:r>
            <a:r>
              <a:rPr kumimoji="0" lang="en-US" altLang="ja-JP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…</a:t>
            </a:r>
          </a:p>
          <a:p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採用と広報</a:t>
            </a:r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　　オウンドメディアや</a:t>
            </a:r>
            <a:r>
              <a:rPr kumimoji="0" lang="en-US" altLang="ja-JP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SNS</a:t>
            </a:r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を活用した情報発信の強化、採用におけるデータ分析</a:t>
            </a:r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営業体制の強化</a:t>
            </a:r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　　営業プロセスの標準化と</a:t>
            </a:r>
            <a:r>
              <a:rPr kumimoji="0" lang="en-US" altLang="ja-JP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SFA</a:t>
            </a:r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を活用したパイプラインの徹底、インサイドセールス・マーケティングとの連携　　　　</a:t>
            </a:r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　　</a:t>
            </a:r>
            <a:br>
              <a:rPr kumimoji="0" lang="en-US" altLang="ja-JP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</a:br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アセット管理の充実</a:t>
            </a:r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　　法規制・環境変化への対応、リスクマネジメントの強化</a:t>
            </a:r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br>
              <a:rPr kumimoji="0" lang="en-US" altLang="ja-JP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</a:br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ファイナンス戦略</a:t>
            </a:r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r>
              <a:rPr kumimoji="0" lang="ja-JP" altLang="en-US" sz="1800" b="0" kern="0" dirty="0">
                <a:latin typeface="MS UI Gothic" panose="020B0600070205080204" pitchFamily="50" charset="-128"/>
                <a:ea typeface="MS UI Gothic" panose="020B0600070205080204" pitchFamily="50" charset="-128"/>
              </a:rPr>
              <a:t>　　事業拡大のための資金使途を明確にしたファイナンス戦略の策定</a:t>
            </a:r>
            <a:endParaRPr kumimoji="0" lang="en-US" altLang="ja-JP" sz="1800" b="0" kern="0" dirty="0">
              <a:latin typeface="MS UI Gothic" panose="020B0600070205080204" pitchFamily="50" charset="-128"/>
              <a:ea typeface="MS UI Gothic" panose="020B0600070205080204" pitchFamily="50" charset="-128"/>
            </a:endParaRPr>
          </a:p>
          <a:p>
            <a:endParaRPr kumimoji="0" lang="en-US" altLang="ja-JP" sz="1800" b="0" kern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11790750" y="6495973"/>
            <a:ext cx="274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</a:schemeClr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" name="脳卒中は世界４大疾患の１つ。世界でも先進国・中産国・発展途上国であまねく疾患負荷（DALY）が高い。…"/>
          <p:cNvSpPr txBox="1"/>
          <p:nvPr/>
        </p:nvSpPr>
        <p:spPr>
          <a:xfrm>
            <a:off x="11005409" y="78703"/>
            <a:ext cx="1186591" cy="355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17999"/>
              </a:lnSpc>
              <a:defRPr sz="1800">
                <a:latin typeface="+mn-lt"/>
                <a:ea typeface="+mn-ea"/>
                <a:cs typeface="+mn-cs"/>
                <a:sym typeface="ヒラギノ角ゴ ProN W3"/>
              </a:defRPr>
            </a:pPr>
            <a:r>
              <a:rPr lang="en-US" altLang="ja-JP" sz="1600" dirty="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Confidential</a:t>
            </a:r>
            <a:endParaRPr lang="en-US" sz="1600" dirty="0">
              <a:solidFill>
                <a:srgbClr val="FF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58978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歩行機能解析システムイメージ"/>
          <p:cNvSpPr txBox="1">
            <a:spLocks/>
          </p:cNvSpPr>
          <p:nvPr/>
        </p:nvSpPr>
        <p:spPr>
          <a:xfrm>
            <a:off x="263352" y="176680"/>
            <a:ext cx="9001000" cy="38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199943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20" b="1" i="0" u="none" strike="noStrike" cap="none" spc="-98" baseline="0">
                <a:solidFill>
                  <a:srgbClr val="292942"/>
                </a:solidFill>
                <a:uFillTx/>
                <a:latin typeface="メイリオ"/>
                <a:ea typeface="メイリオ"/>
                <a:cs typeface="メイリオ"/>
                <a:sym typeface="メイリオ"/>
              </a:defRPr>
            </a:lvl1pPr>
            <a:lvl2pPr marL="0" marR="0" indent="1714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2pPr>
            <a:lvl3pPr marL="0" marR="0" indent="3429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3pPr>
            <a:lvl4pPr marL="0" marR="0" indent="5143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4pPr>
            <a:lvl5pPr marL="0" marR="0" indent="6858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5pPr>
            <a:lvl6pPr marL="0" marR="0" indent="8572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6pPr>
            <a:lvl7pPr marL="0" marR="0" indent="10287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7pPr>
            <a:lvl8pPr marL="0" marR="0" indent="12001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8pPr>
            <a:lvl9pPr marL="0" marR="0" indent="13716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9pPr>
          </a:lstStyle>
          <a:p>
            <a:r>
              <a:rPr kumimoji="0" lang="ja-JP" altLang="en-US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５</a:t>
            </a:r>
            <a:r>
              <a:rPr kumimoji="0" lang="en-US" altLang="ja-JP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 </a:t>
            </a:r>
            <a:r>
              <a:rPr kumimoji="0" lang="ja-JP" altLang="en-US" sz="18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主要な事業内容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11790750" y="6495973"/>
            <a:ext cx="2744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</a:schemeClr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" name="脳卒中は世界４大疾患の１つ。世界でも先進国・中産国・発展途上国であまねく疾患負荷（DALY）が高い。…"/>
          <p:cNvSpPr txBox="1"/>
          <p:nvPr/>
        </p:nvSpPr>
        <p:spPr>
          <a:xfrm>
            <a:off x="11005409" y="78703"/>
            <a:ext cx="1186591" cy="355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17999"/>
              </a:lnSpc>
              <a:defRPr sz="1800">
                <a:latin typeface="+mn-lt"/>
                <a:ea typeface="+mn-ea"/>
                <a:cs typeface="+mn-cs"/>
                <a:sym typeface="ヒラギノ角ゴ ProN W3"/>
              </a:defRPr>
            </a:pPr>
            <a:r>
              <a:rPr lang="en-US" altLang="ja-JP" sz="1600" dirty="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Confidential</a:t>
            </a:r>
            <a:endParaRPr lang="en-US" sz="1600" dirty="0">
              <a:solidFill>
                <a:srgbClr val="FF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" name="歩行機能解析システムイメージ">
            <a:extLst>
              <a:ext uri="{FF2B5EF4-FFF2-40B4-BE49-F238E27FC236}">
                <a16:creationId xmlns:a16="http://schemas.microsoft.com/office/drawing/2014/main" id="{DAFD4697-4CFE-3935-3914-14DAAA0F5601}"/>
              </a:ext>
            </a:extLst>
          </p:cNvPr>
          <p:cNvSpPr txBox="1">
            <a:spLocks/>
          </p:cNvSpPr>
          <p:nvPr/>
        </p:nvSpPr>
        <p:spPr>
          <a:xfrm>
            <a:off x="568066" y="836627"/>
            <a:ext cx="11377264" cy="648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199943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20" b="1" i="0" u="none" strike="noStrike" cap="none" spc="-98" baseline="0">
                <a:solidFill>
                  <a:srgbClr val="292942"/>
                </a:solidFill>
                <a:uFillTx/>
                <a:latin typeface="メイリオ"/>
                <a:ea typeface="メイリオ"/>
                <a:cs typeface="メイリオ"/>
                <a:sym typeface="メイリオ"/>
              </a:defRPr>
            </a:lvl1pPr>
            <a:lvl2pPr marL="0" marR="0" indent="1714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2pPr>
            <a:lvl3pPr marL="0" marR="0" indent="3429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3pPr>
            <a:lvl4pPr marL="0" marR="0" indent="5143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4pPr>
            <a:lvl5pPr marL="0" marR="0" indent="6858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5pPr>
            <a:lvl6pPr marL="0" marR="0" indent="8572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6pPr>
            <a:lvl7pPr marL="0" marR="0" indent="10287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7pPr>
            <a:lvl8pPr marL="0" marR="0" indent="12001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8pPr>
            <a:lvl9pPr marL="0" marR="0" indent="13716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9pPr>
          </a:lstStyle>
          <a:p>
            <a:r>
              <a:rPr kumimoji="0" lang="ja-JP" altLang="en-US" sz="1600" b="0" kern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別紙にてご説明いたします。</a:t>
            </a:r>
            <a:endParaRPr kumimoji="0" lang="en-US" altLang="ja-JP" sz="1600" b="0" kern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kumimoji="0" lang="en-US" altLang="ja-JP" sz="1800" b="0" kern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979032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歩行機能解析システムイメージ"/>
          <p:cNvSpPr txBox="1">
            <a:spLocks/>
          </p:cNvSpPr>
          <p:nvPr/>
        </p:nvSpPr>
        <p:spPr>
          <a:xfrm>
            <a:off x="263352" y="214416"/>
            <a:ext cx="9001000" cy="38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l" defTabSz="199943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20" b="1" i="0" u="none" strike="noStrike" cap="none" spc="-98" baseline="0">
                <a:solidFill>
                  <a:srgbClr val="292942"/>
                </a:solidFill>
                <a:uFillTx/>
                <a:latin typeface="メイリオ"/>
                <a:ea typeface="メイリオ"/>
                <a:cs typeface="メイリオ"/>
                <a:sym typeface="メイリオ"/>
              </a:defRPr>
            </a:lvl1pPr>
            <a:lvl2pPr marL="0" marR="0" indent="1714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2pPr>
            <a:lvl3pPr marL="0" marR="0" indent="3429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3pPr>
            <a:lvl4pPr marL="0" marR="0" indent="5143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4pPr>
            <a:lvl5pPr marL="0" marR="0" indent="6858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5pPr>
            <a:lvl6pPr marL="0" marR="0" indent="8572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6pPr>
            <a:lvl7pPr marL="0" marR="0" indent="10287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7pPr>
            <a:lvl8pPr marL="0" marR="0" indent="120015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8pPr>
            <a:lvl9pPr marL="0" marR="0" indent="1371600" algn="l" defTabSz="914377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88" b="0" i="0" u="none" strike="noStrike" cap="none" spc="-6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6"/>
              </a:defRPr>
            </a:lvl9pPr>
          </a:lstStyle>
          <a:p>
            <a:r>
              <a:rPr kumimoji="0" lang="ja-JP" altLang="en-US" sz="1800" b="0" kern="0" dirty="0">
                <a:latin typeface="MS Reference Sans Serif" panose="020B0604030504040204" pitchFamily="34" charset="0"/>
                <a:ea typeface="ＭＳ Ｐゴシック" panose="020B0600070205080204" pitchFamily="50" charset="-128"/>
              </a:rPr>
              <a:t>（御参考）株式会社オルテナジーパワー単体　直前三事業年度の損益の状況</a:t>
            </a:r>
          </a:p>
        </p:txBody>
      </p:sp>
      <p:sp>
        <p:nvSpPr>
          <p:cNvPr id="11" name="正方形/長方形 10"/>
          <p:cNvSpPr/>
          <p:nvPr/>
        </p:nvSpPr>
        <p:spPr>
          <a:xfrm>
            <a:off x="11790750" y="6495973"/>
            <a:ext cx="2968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>
                <a:solidFill>
                  <a:schemeClr val="tx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7</a:t>
            </a:r>
          </a:p>
        </p:txBody>
      </p:sp>
      <p:sp>
        <p:nvSpPr>
          <p:cNvPr id="9" name="脳卒中は世界４大疾患の１つ。世界でも先進国・中産国・発展途上国であまねく疾患負荷（DALY）が高い。…"/>
          <p:cNvSpPr txBox="1"/>
          <p:nvPr/>
        </p:nvSpPr>
        <p:spPr>
          <a:xfrm>
            <a:off x="11005409" y="78703"/>
            <a:ext cx="1186591" cy="355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457200">
              <a:lnSpc>
                <a:spcPct val="117999"/>
              </a:lnSpc>
              <a:defRPr sz="1800">
                <a:latin typeface="+mn-lt"/>
                <a:ea typeface="+mn-ea"/>
                <a:cs typeface="+mn-cs"/>
                <a:sym typeface="ヒラギノ角ゴ ProN W3"/>
              </a:defRPr>
            </a:pPr>
            <a:r>
              <a:rPr lang="en-US" altLang="ja-JP" sz="1600" dirty="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Confidential</a:t>
            </a:r>
            <a:endParaRPr lang="en-US" sz="1600" dirty="0">
              <a:solidFill>
                <a:srgbClr val="FF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47C35A75-0EE3-2CFA-A444-6FE96936B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399208"/>
              </p:ext>
            </p:extLst>
          </p:nvPr>
        </p:nvGraphicFramePr>
        <p:xfrm>
          <a:off x="616018" y="908719"/>
          <a:ext cx="10160507" cy="5587248"/>
        </p:xfrm>
        <a:graphic>
          <a:graphicData uri="http://schemas.openxmlformats.org/drawingml/2006/table">
            <a:tbl>
              <a:tblPr/>
              <a:tblGrid>
                <a:gridCol w="591555">
                  <a:extLst>
                    <a:ext uri="{9D8B030D-6E8A-4147-A177-3AD203B41FA5}">
                      <a16:colId xmlns:a16="http://schemas.microsoft.com/office/drawing/2014/main" val="2331760377"/>
                    </a:ext>
                  </a:extLst>
                </a:gridCol>
                <a:gridCol w="2289537">
                  <a:extLst>
                    <a:ext uri="{9D8B030D-6E8A-4147-A177-3AD203B41FA5}">
                      <a16:colId xmlns:a16="http://schemas.microsoft.com/office/drawing/2014/main" val="1115927318"/>
                    </a:ext>
                  </a:extLst>
                </a:gridCol>
                <a:gridCol w="1634993">
                  <a:extLst>
                    <a:ext uri="{9D8B030D-6E8A-4147-A177-3AD203B41FA5}">
                      <a16:colId xmlns:a16="http://schemas.microsoft.com/office/drawing/2014/main" val="525466701"/>
                    </a:ext>
                  </a:extLst>
                </a:gridCol>
                <a:gridCol w="591555">
                  <a:extLst>
                    <a:ext uri="{9D8B030D-6E8A-4147-A177-3AD203B41FA5}">
                      <a16:colId xmlns:a16="http://schemas.microsoft.com/office/drawing/2014/main" val="1218450754"/>
                    </a:ext>
                  </a:extLst>
                </a:gridCol>
                <a:gridCol w="1634993">
                  <a:extLst>
                    <a:ext uri="{9D8B030D-6E8A-4147-A177-3AD203B41FA5}">
                      <a16:colId xmlns:a16="http://schemas.microsoft.com/office/drawing/2014/main" val="446058113"/>
                    </a:ext>
                  </a:extLst>
                </a:gridCol>
                <a:gridCol w="591555">
                  <a:extLst>
                    <a:ext uri="{9D8B030D-6E8A-4147-A177-3AD203B41FA5}">
                      <a16:colId xmlns:a16="http://schemas.microsoft.com/office/drawing/2014/main" val="3346452323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477658044"/>
                    </a:ext>
                  </a:extLst>
                </a:gridCol>
                <a:gridCol w="591555">
                  <a:extLst>
                    <a:ext uri="{9D8B030D-6E8A-4147-A177-3AD203B41FA5}">
                      <a16:colId xmlns:a16="http://schemas.microsoft.com/office/drawing/2014/main" val="2913936116"/>
                    </a:ext>
                  </a:extLst>
                </a:gridCol>
                <a:gridCol w="591555">
                  <a:extLst>
                    <a:ext uri="{9D8B030D-6E8A-4147-A177-3AD203B41FA5}">
                      <a16:colId xmlns:a16="http://schemas.microsoft.com/office/drawing/2014/main" val="2368253859"/>
                    </a:ext>
                  </a:extLst>
                </a:gridCol>
              </a:tblGrid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Yu Gothic UI Semilight" panose="020B0400000000000000" pitchFamily="50" charset="-128"/>
                          <a:ea typeface="Yu Gothic UI Semilight" panose="020B0400000000000000" pitchFamily="50" charset="-128"/>
                        </a:rPr>
                        <a:t>単位：千円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311712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2023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年</a:t>
                      </a:r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3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月期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2024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年</a:t>
                      </a:r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3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月期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2025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年</a:t>
                      </a:r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3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月期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410517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(PPA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売上高）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123,493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156,758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210,895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614050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(EPC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売上高）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34,077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40,686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34,715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034513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　</a:t>
                      </a:r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(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その他売上高）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700,327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14,670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30,119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602766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売上高合計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857,897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212,114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275,729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734457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　売上総利益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172,000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196,974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246,280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642866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販管費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/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一般管理費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169,669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191,997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239,942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286920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　営業利益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3,132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4,976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6,338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404331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営業外収益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1,386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16,753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359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9060378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営業外費用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2,477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3,411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6,081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66248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　経常利益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2,041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18,318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616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684582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　法人税等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347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1,390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496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30656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　当期純利益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1,693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2,877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120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84824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減価償却費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23,140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26,100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33,918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9713268"/>
                  </a:ext>
                </a:extLst>
              </a:tr>
              <a:tr h="349203"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ﾌﾘｰｷｬｯｼｭﾌﾛｰ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24,833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28,977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34,038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MS UI Gothic" panose="020B0600070205080204" pitchFamily="50" charset="-128"/>
                          <a:ea typeface="MS UI Gothic" panose="020B0600070205080204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Yu Gothic UI Semilight" panose="020B0400000000000000" pitchFamily="50" charset="-128"/>
                        <a:ea typeface="Yu Gothic UI Semilight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884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01460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2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11027</TotalTime>
  <Words>807</Words>
  <Application>Microsoft Office PowerPoint</Application>
  <PresentationFormat>ワイド画面</PresentationFormat>
  <Paragraphs>324</Paragraphs>
  <Slides>7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21" baseType="lpstr">
      <vt:lpstr>Helvetica Neue Light</vt:lpstr>
      <vt:lpstr>Meiryo UI</vt:lpstr>
      <vt:lpstr>ＭＳ Ｐゴシック</vt:lpstr>
      <vt:lpstr>MS UI Gothic</vt:lpstr>
      <vt:lpstr>UD デジタル 教科書体 NK-R</vt:lpstr>
      <vt:lpstr>Yu Gothic UI Semilight</vt:lpstr>
      <vt:lpstr>ヒラギノ角ゴ ProN W3</vt:lpstr>
      <vt:lpstr>ヒラギノ角ゴ ProN W6</vt:lpstr>
      <vt:lpstr>メイリオ</vt:lpstr>
      <vt:lpstr>Arial</vt:lpstr>
      <vt:lpstr>Calibri</vt:lpstr>
      <vt:lpstr>MS Reference Sans Serif</vt:lpstr>
      <vt:lpstr>Wingdings</vt:lpstr>
      <vt:lpstr>22_BasicWhite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altenergy057</dc:creator>
  <cp:lastModifiedBy>alt024</cp:lastModifiedBy>
  <cp:revision>716</cp:revision>
  <cp:lastPrinted>2025-01-30T04:53:15Z</cp:lastPrinted>
  <dcterms:created xsi:type="dcterms:W3CDTF">2019-01-10T02:04:07Z</dcterms:created>
  <dcterms:modified xsi:type="dcterms:W3CDTF">2025-12-02T09:57:13Z</dcterms:modified>
</cp:coreProperties>
</file>