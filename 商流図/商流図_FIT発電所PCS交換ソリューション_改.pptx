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0" y="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nd"/>
          <p:cNvSpPr/>
          <p:nvPr/>
        </p:nvSpPr>
        <p:spPr>
          <a:xfrm>
            <a:off x="0" y="0"/>
            <a:ext cx="106807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lIns="457200" tIns="0" rIns="0" bIns="0" anchor="ctr" anchorCtr="0"/>
          <a:lstStyle/>
          <a:p>
            <a:endParaRPr lang="ja-JP"/>
          </a:p>
        </p:txBody>
      </p:sp>
      <p:sp>
        <p:nvSpPr>
          <p:cNvPr id="101" name="Title"/>
          <p:cNvSpPr/>
          <p:nvPr/>
        </p:nvSpPr>
        <p:spPr>
          <a:xfrm>
            <a:off x="381000" y="1016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</a:rPr>
              <a:t>FIT発電所向けPCS交換ソリューション事業</a:t>
            </a:r>
            <a:r>
              <a:rPr lang="ja-JP" sz="2200" b="1" dirty="0">
                <a:solidFill>
                  <a:srgbClr val="8BADD6"/>
                </a:solidFill>
                <a:latin typeface="Meiryo"/>
                <a:ea typeface="Meiryo"/>
              </a:rPr>
              <a:t>　商流図</a:t>
            </a:r>
          </a:p>
        </p:txBody>
      </p:sp>
      <p:sp>
        <p:nvSpPr>
          <p:cNvPr id="102" name="Subtitle"/>
          <p:cNvSpPr/>
          <p:nvPr/>
        </p:nvSpPr>
        <p:spPr>
          <a:xfrm>
            <a:off x="381000" y="5334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ja-JP" sz="1200" dirty="0">
                <a:solidFill>
                  <a:srgbClr val="A0B8D0"/>
                </a:solidFill>
                <a:latin typeface="Meiryo"/>
                <a:ea typeface="Meiryo"/>
              </a:rPr>
              <a:t>ユアサ商事 × オルテナジー × ダイヤゼブラ電機 の3社協業スキーム</a:t>
            </a:r>
          </a:p>
        </p:txBody>
      </p:sp>
      <p:sp>
        <p:nvSpPr>
          <p:cNvPr id="103" name="BgCard"/>
          <p:cNvSpPr/>
          <p:nvPr/>
        </p:nvSpPr>
        <p:spPr>
          <a:xfrm>
            <a:off x="381000" y="1016000"/>
            <a:ext cx="9906000" cy="736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 w="6350">
            <a:solidFill>
              <a:srgbClr val="CBD5E1"/>
            </a:solidFill>
          </a:ln>
        </p:spPr>
        <p:txBody>
          <a:bodyPr lIns="144000" tIns="36000" rIns="72000" bIns="36000" anchor="ctr"/>
          <a:lstStyle/>
          <a:p>
            <a:pPr>
              <a:buNone/>
            </a:pPr>
            <a:r>
              <a:rPr lang="ja-JP" sz="1100" b="1" dirty="0">
                <a:solidFill>
                  <a:srgbClr val="1B2A4A"/>
                </a:solidFill>
                <a:latin typeface="Meiryo"/>
                <a:ea typeface="Meiryo"/>
              </a:rPr>
              <a:t>【背景】</a:t>
            </a:r>
            <a:r>
              <a:rPr lang="ja-JP" sz="1000" dirty="0">
                <a:solidFill>
                  <a:srgbClr val="475569"/>
                </a:solidFill>
                <a:latin typeface="Meiryo"/>
                <a:ea typeface="Meiryo"/>
              </a:rPr>
              <a:t>　ユアサ商事がダイヤゼブラ社製PCSを納品してから約10年が経過。FIT発電所オーナーからPCS交換を含む修繕依頼が殺到。</a:t>
            </a:r>
          </a:p>
          <a:p>
            <a:pPr>
              <a:buNone/>
            </a:pPr>
            <a:r>
              <a:rPr lang="ja-JP" sz="1000" dirty="0">
                <a:solidFill>
                  <a:srgbClr val="475569"/>
                </a:solidFill>
                <a:latin typeface="Meiryo"/>
                <a:ea typeface="Meiryo"/>
              </a:rPr>
              <a:t>　　　　　　オルテナジーが「パワまる」サービスを通じてダイヤゼブラ製最新PCSへの交換ソリューションを提供。</a:t>
            </a:r>
          </a:p>
        </p:txBody>
      </p:sp>
      <p:sp>
        <p:nvSpPr>
          <p:cNvPr id="104" name="DZ_Box"/>
          <p:cNvSpPr/>
          <p:nvPr/>
        </p:nvSpPr>
        <p:spPr>
          <a:xfrm>
            <a:off x="482600" y="20955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E8F4F8"/>
          </a:solidFill>
          <a:ln w="19050">
            <a:solidFill>
              <a:srgbClr val="1B6B93"/>
            </a:solidFill>
          </a:ln>
          <a:effectLst>
            <a:outerShdw blurRad="38100" dist="12700" dir="5400000" algn="t" rotWithShape="0">
              <a:srgbClr val="000000">
                <a:alpha val="15000"/>
              </a:srgbClr>
            </a:outerShdw>
          </a:effectLst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ja-JP" sz="1500" b="1" dirty="0">
                <a:solidFill>
                  <a:srgbClr val="1B6B93"/>
                </a:solidFill>
                <a:latin typeface="Meiryo"/>
                <a:ea typeface="Meiryo"/>
              </a:rPr>
              <a:t>ダイヤゼブラ電機</a:t>
            </a:r>
          </a:p>
          <a:p>
            <a:pPr algn="ctr">
              <a:buNone/>
            </a:pPr>
            <a:r>
              <a:rPr lang="ja-JP" sz="1000" dirty="0">
                <a:solidFill>
                  <a:srgbClr val="64748B"/>
                </a:solidFill>
                <a:latin typeface="Meiryo"/>
                <a:ea typeface="Meiryo"/>
              </a:rPr>
              <a:t>（旧 田淵電機）</a:t>
            </a:r>
          </a:p>
        </p:txBody>
      </p:sp>
      <p:sp>
        <p:nvSpPr>
          <p:cNvPr id="105" name="DZ_Label"/>
          <p:cNvSpPr/>
          <p:nvPr/>
        </p:nvSpPr>
        <p:spPr>
          <a:xfrm>
            <a:off x="482600" y="31623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ja-JP" sz="900" dirty="0">
                <a:solidFill>
                  <a:srgbClr val="94A3B8"/>
                </a:solidFill>
                <a:latin typeface="Meiryo"/>
                <a:ea typeface="Meiryo"/>
              </a:rPr>
              <a:t>最新PCS製造・供給</a:t>
            </a:r>
          </a:p>
        </p:txBody>
      </p:sp>
      <p:sp>
        <p:nvSpPr>
          <p:cNvPr id="106" name="YS_Box"/>
          <p:cNvSpPr/>
          <p:nvPr/>
        </p:nvSpPr>
        <p:spPr>
          <a:xfrm>
            <a:off x="4064000" y="20955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9050">
            <a:solidFill>
              <a:srgbClr val="C85A18"/>
            </a:solidFill>
          </a:ln>
          <a:effectLst>
            <a:outerShdw blurRad="38100" dist="12700" dir="5400000" algn="t" rotWithShape="0">
              <a:srgbClr val="000000">
                <a:alpha val="15000"/>
              </a:srgbClr>
            </a:outerShdw>
          </a:effectLst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ja-JP" sz="1700" b="1" dirty="0">
                <a:solidFill>
                  <a:srgbClr val="C85A18"/>
                </a:solidFill>
                <a:latin typeface="Meiryo"/>
                <a:ea typeface="Meiryo"/>
              </a:rPr>
              <a:t>ユアサ商事</a:t>
            </a:r>
          </a:p>
        </p:txBody>
      </p:sp>
      <p:sp>
        <p:nvSpPr>
          <p:cNvPr id="107" name="YS_Label"/>
          <p:cNvSpPr/>
          <p:nvPr/>
        </p:nvSpPr>
        <p:spPr>
          <a:xfrm>
            <a:off x="4064000" y="31623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ja-JP" sz="900" dirty="0">
                <a:solidFill>
                  <a:srgbClr val="94A3B8"/>
                </a:solidFill>
                <a:latin typeface="Meiryo"/>
                <a:ea typeface="Meiryo"/>
              </a:rPr>
              <a:t>PCS在庫確保</a:t>
            </a:r>
          </a:p>
          <a:p>
            <a:pPr algn="ctr">
              <a:buNone/>
            </a:pPr>
            <a:r>
              <a:rPr lang="ja-JP" sz="900" dirty="0">
                <a:solidFill>
                  <a:srgbClr val="94A3B8"/>
                </a:solidFill>
                <a:latin typeface="Meiryo"/>
                <a:ea typeface="Meiryo"/>
              </a:rPr>
              <a:t>ファイナンス（与信）提供</a:t>
            </a:r>
          </a:p>
        </p:txBody>
      </p:sp>
      <p:sp>
        <p:nvSpPr>
          <p:cNvPr id="108" name="OE_Box"/>
          <p:cNvSpPr/>
          <p:nvPr/>
        </p:nvSpPr>
        <p:spPr>
          <a:xfrm>
            <a:off x="7658100" y="20955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9050">
            <a:solidFill>
              <a:srgbClr val="1A7A42"/>
            </a:solidFill>
          </a:ln>
          <a:effectLst>
            <a:outerShdw blurRad="38100" dist="12700" dir="5400000" algn="t" rotWithShape="0">
              <a:srgbClr val="000000">
                <a:alpha val="15000"/>
              </a:srgbClr>
            </a:outerShdw>
          </a:effectLst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ja-JP" sz="1700" b="1" dirty="0">
                <a:solidFill>
                  <a:srgbClr val="1A7A42"/>
                </a:solidFill>
                <a:latin typeface="Meiryo"/>
                <a:ea typeface="Meiryo"/>
              </a:rPr>
              <a:t>オルテナジー</a:t>
            </a:r>
          </a:p>
        </p:txBody>
      </p:sp>
      <p:sp>
        <p:nvSpPr>
          <p:cNvPr id="109" name="OE_Label"/>
          <p:cNvSpPr/>
          <p:nvPr/>
        </p:nvSpPr>
        <p:spPr>
          <a:xfrm>
            <a:off x="7658100" y="31623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ja-JP" sz="900" dirty="0">
                <a:solidFill>
                  <a:srgbClr val="94A3B8"/>
                </a:solidFill>
                <a:latin typeface="Meiryo"/>
                <a:ea typeface="Meiryo"/>
              </a:rPr>
              <a:t>「パワまる」実装・販売</a:t>
            </a:r>
          </a:p>
        </p:txBody>
      </p:sp>
      <p:sp>
        <p:nvSpPr>
          <p:cNvPr id="110" name="Arrow1"/>
          <p:cNvSpPr/>
          <p:nvPr/>
        </p:nvSpPr>
        <p:spPr>
          <a:xfrm>
            <a:off x="3124200" y="2476500"/>
            <a:ext cx="838200" cy="254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1B6B93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1" name="Arrow1Label"/>
          <p:cNvSpPr/>
          <p:nvPr/>
        </p:nvSpPr>
        <p:spPr>
          <a:xfrm>
            <a:off x="3124200" y="27559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ja-JP" sz="900" b="1" dirty="0">
                <a:solidFill>
                  <a:srgbClr val="1B6B93"/>
                </a:solidFill>
                <a:latin typeface="Meiryo"/>
                <a:ea typeface="Meiryo"/>
              </a:rPr>
              <a:t>①PCS供給</a:t>
            </a:r>
          </a:p>
        </p:txBody>
      </p:sp>
      <p:sp>
        <p:nvSpPr>
          <p:cNvPr id="112" name="Arrow2"/>
          <p:cNvSpPr/>
          <p:nvPr/>
        </p:nvSpPr>
        <p:spPr>
          <a:xfrm>
            <a:off x="6705600" y="2476500"/>
            <a:ext cx="850900" cy="254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C85A18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3" name="Arrow2Label"/>
          <p:cNvSpPr/>
          <p:nvPr/>
        </p:nvSpPr>
        <p:spPr>
          <a:xfrm>
            <a:off x="6705600" y="2755900"/>
            <a:ext cx="8509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ja-JP" sz="900" b="1" dirty="0">
                <a:solidFill>
                  <a:srgbClr val="C85A18"/>
                </a:solidFill>
                <a:latin typeface="Meiryo"/>
                <a:ea typeface="Meiryo"/>
              </a:rPr>
              <a:t>②在庫提供</a:t>
            </a:r>
          </a:p>
        </p:txBody>
      </p:sp>
      <p:sp>
        <p:nvSpPr>
          <p:cNvPr id="114" name="Arrow3"/>
          <p:cNvSpPr/>
          <p:nvPr/>
        </p:nvSpPr>
        <p:spPr>
          <a:xfrm>
            <a:off x="8801100" y="3492500"/>
            <a:ext cx="254000" cy="901700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1A7A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5" name="Arrow3Label"/>
          <p:cNvSpPr/>
          <p:nvPr/>
        </p:nvSpPr>
        <p:spPr>
          <a:xfrm>
            <a:off x="9105900" y="3708400"/>
            <a:ext cx="1016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ja-JP" sz="900" b="1" dirty="0">
                <a:solidFill>
                  <a:srgbClr val="1A7A42"/>
                </a:solidFill>
                <a:latin typeface="Meiryo"/>
                <a:ea typeface="Meiryo"/>
              </a:rPr>
              <a:t>③「パワまる」</a:t>
            </a:r>
          </a:p>
          <a:p>
            <a:pPr algn="l">
              <a:buNone/>
            </a:pPr>
            <a:r>
              <a:rPr lang="ja-JP" sz="900" b="1" dirty="0">
                <a:solidFill>
                  <a:srgbClr val="1A7A42"/>
                </a:solidFill>
                <a:latin typeface="Meiryo"/>
                <a:ea typeface="Meiryo"/>
              </a:rPr>
              <a:t>　提供</a:t>
            </a:r>
          </a:p>
        </p:txBody>
      </p:sp>
      <p:sp>
        <p:nvSpPr>
          <p:cNvPr id="116" name="Arrow4"/>
          <p:cNvSpPr/>
          <p:nvPr/>
        </p:nvSpPr>
        <p:spPr>
          <a:xfrm>
            <a:off x="5207000" y="3581400"/>
            <a:ext cx="304800" cy="1130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85A18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7" name="Arrow4Label"/>
          <p:cNvSpPr/>
          <p:nvPr/>
        </p:nvSpPr>
        <p:spPr>
          <a:xfrm>
            <a:off x="5511800" y="3962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ja-JP" sz="900" b="1" dirty="0">
                <a:solidFill>
                  <a:srgbClr val="C85A18"/>
                </a:solidFill>
                <a:latin typeface="Meiryo"/>
                <a:ea typeface="Meiryo"/>
              </a:rPr>
              <a:t>④ファイナンス</a:t>
            </a:r>
          </a:p>
          <a:p>
            <a:pPr algn="l">
              <a:buNone/>
            </a:pPr>
            <a:r>
              <a:rPr lang="ja-JP" sz="900" b="1" dirty="0">
                <a:solidFill>
                  <a:srgbClr val="C85A18"/>
                </a:solidFill>
                <a:latin typeface="Meiryo"/>
                <a:ea typeface="Meiryo"/>
              </a:rPr>
              <a:t>　（与信提供）</a:t>
            </a:r>
          </a:p>
        </p:txBody>
      </p:sp>
      <p:sp>
        <p:nvSpPr>
          <p:cNvPr id="118" name="EU_Box"/>
          <p:cNvSpPr/>
          <p:nvPr/>
        </p:nvSpPr>
        <p:spPr>
          <a:xfrm>
            <a:off x="7658100" y="4470400"/>
            <a:ext cx="2540000" cy="863600"/>
          </a:xfrm>
          <a:prstGeom prst="roundRect">
            <a:avLst>
              <a:gd name="adj" fmla="val 12000"/>
            </a:avLst>
          </a:prstGeom>
          <a:solidFill>
            <a:srgbClr val="FDF8E8"/>
          </a:solidFill>
          <a:ln w="19050">
            <a:solidFill>
              <a:srgbClr val="7C6B2D"/>
            </a:solidFill>
          </a:ln>
          <a:effectLst>
            <a:outerShdw blurRad="38100" dist="12700" dir="5400000" algn="t" rotWithShape="0">
              <a:srgbClr val="000000">
                <a:alpha val="15000"/>
              </a:srgbClr>
            </a:outerShdw>
          </a:effectLst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ja-JP" sz="1400" b="1" dirty="0">
                <a:solidFill>
                  <a:srgbClr val="7C6B2D"/>
                </a:solidFill>
                <a:latin typeface="Meiryo"/>
                <a:ea typeface="Meiryo"/>
              </a:rPr>
              <a:t>FIT発電所オーナー</a:t>
            </a:r>
          </a:p>
          <a:p>
            <a:pPr algn="ctr">
              <a:buNone/>
            </a:pPr>
            <a:r>
              <a:rPr lang="ja-JP" sz="1000" dirty="0">
                <a:solidFill>
                  <a:srgbClr val="64748B"/>
                </a:solidFill>
                <a:latin typeface="Meiryo"/>
                <a:ea typeface="Meiryo"/>
              </a:rPr>
              <a:t>（エンドユーザ）</a:t>
            </a:r>
          </a:p>
        </p:txBody>
      </p:sp>
      <p:sp>
        <p:nvSpPr>
          <p:cNvPr id="119" name="PawamaruCard"/>
          <p:cNvSpPr/>
          <p:nvPr/>
        </p:nvSpPr>
        <p:spPr>
          <a:xfrm>
            <a:off x="381000" y="4813300"/>
            <a:ext cx="6223000" cy="1003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A7A42"/>
            </a:solidFill>
          </a:ln>
          <a:effectLst>
            <a:outerShdw blurRad="25400" dist="6350" dir="5400000" algn="t" rotWithShape="0">
              <a:srgbClr val="000000">
                <a:alpha val="10000"/>
              </a:srgbClr>
            </a:outerShdw>
          </a:effectLst>
        </p:spPr>
        <p:txBody>
          <a:bodyPr lIns="108000" tIns="54000" rIns="72000" bIns="36000" anchor="t"/>
          <a:lstStyle/>
          <a:p>
            <a:pPr>
              <a:buNone/>
            </a:pPr>
            <a:r>
              <a:rPr lang="ja-JP" sz="1100" b="1" dirty="0">
                <a:solidFill>
                  <a:srgbClr val="1A7A42"/>
                </a:solidFill>
                <a:latin typeface="Meiryo"/>
                <a:ea typeface="Meiryo"/>
              </a:rPr>
              <a:t>【パワまる サービス概要】</a:t>
            </a:r>
          </a:p>
          <a:p>
            <a:pPr marL="171450" indent="-171450">
              <a:buFont typeface="Meiryo"/>
              <a:buChar char="○"/>
            </a:pPr>
            <a:r>
              <a:rPr lang="ja-JP" sz="900" dirty="0">
                <a:solidFill>
                  <a:srgbClr val="475569"/>
                </a:solidFill>
                <a:latin typeface="Meiryo"/>
                <a:ea typeface="Meiryo"/>
              </a:rPr>
              <a:t>最新型PCSへの交換＋付帯サービスのセット</a:t>
            </a:r>
          </a:p>
          <a:p>
            <a:pPr marL="171450" indent="-171450">
              <a:buFont typeface="Meiryo"/>
              <a:buChar char="○"/>
            </a:pPr>
            <a:r>
              <a:rPr lang="ja-JP" sz="900" dirty="0">
                <a:solidFill>
                  <a:srgbClr val="475569"/>
                </a:solidFill>
                <a:latin typeface="Meiryo"/>
                <a:ea typeface="Meiryo"/>
              </a:rPr>
              <a:t>月額16,800円～（初期費用・頭金不要）</a:t>
            </a:r>
          </a:p>
          <a:p>
            <a:pPr marL="171450" indent="-171450">
              <a:buFont typeface="Meiryo"/>
              <a:buChar char="○"/>
            </a:pPr>
            <a:r>
              <a:rPr lang="ja-JP" sz="900" dirty="0">
                <a:solidFill>
                  <a:srgbClr val="475569"/>
                </a:solidFill>
                <a:latin typeface="Meiryo"/>
                <a:ea typeface="Meiryo"/>
              </a:rPr>
              <a:t>監視代行・駆けつけ対応・故障時無償交換</a:t>
            </a:r>
          </a:p>
          <a:p>
            <a:pPr marL="171450" indent="-171450">
              <a:buFont typeface="Meiryo"/>
              <a:buChar char="○"/>
            </a:pPr>
            <a:r>
              <a:rPr lang="ja-JP" sz="900" dirty="0">
                <a:solidFill>
                  <a:srgbClr val="475569"/>
                </a:solidFill>
                <a:latin typeface="Meiryo"/>
                <a:ea typeface="Meiryo"/>
              </a:rPr>
              <a:t>契約満了後はPCS無償譲渡</a:t>
            </a:r>
          </a:p>
          <a:p>
            <a:pPr>
              <a:buNone/>
            </a:pPr>
            <a:r>
              <a:rPr lang="ja-JP" sz="900" b="1" dirty="0">
                <a:solidFill>
                  <a:srgbClr val="1B2A4A"/>
                </a:solidFill>
                <a:latin typeface="Meiryo"/>
                <a:ea typeface="Meiryo"/>
              </a:rPr>
              <a:t>※本件ではダイヤゼブラ製PCSを採用</a:t>
            </a:r>
          </a:p>
        </p:txBody>
      </p:sp>
      <p:sp>
        <p:nvSpPr>
          <p:cNvPr id="120" name="PointCard"/>
          <p:cNvSpPr/>
          <p:nvPr/>
        </p:nvSpPr>
        <p:spPr>
          <a:xfrm>
            <a:off x="381000" y="5943600"/>
            <a:ext cx="9906000" cy="149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5A18"/>
            </a:solidFill>
          </a:ln>
          <a:effectLst>
            <a:outerShdw blurRad="25400" dist="6350" dir="5400000" algn="t" rotWithShape="0">
              <a:srgbClr val="000000">
                <a:alpha val="10000"/>
              </a:srgbClr>
            </a:outerShdw>
          </a:effectLst>
        </p:spPr>
        <p:txBody>
          <a:bodyPr lIns="144000" tIns="54000" rIns="72000" bIns="36000" anchor="t"/>
          <a:lstStyle/>
          <a:p>
            <a:pPr algn="ctr">
              <a:buNone/>
            </a:pPr>
            <a:r>
              <a:rPr lang="ja-JP" sz="1200" b="1" dirty="0">
                <a:solidFill>
                  <a:srgbClr val="C85A18"/>
                </a:solidFill>
                <a:latin typeface="Meiryo"/>
                <a:ea typeface="Meiryo"/>
              </a:rPr>
              <a:t>【本スキームのポイント】</a:t>
            </a:r>
          </a:p>
          <a:p>
            <a:pPr>
              <a:buNone/>
            </a:pPr>
            <a:r>
              <a:rPr lang="ja-JP" sz="1000" b="1" dirty="0">
                <a:solidFill>
                  <a:srgbClr val="1B6B93"/>
                </a:solidFill>
                <a:latin typeface="Meiryo"/>
                <a:ea typeface="Meiryo"/>
              </a:rPr>
              <a:t>❶ </a:t>
            </a:r>
            <a:r>
              <a:rPr lang="ja-JP" sz="1000" dirty="0">
                <a:solidFill>
                  <a:srgbClr val="334155"/>
                </a:solidFill>
                <a:latin typeface="Meiryo"/>
                <a:ea typeface="Meiryo"/>
              </a:rPr>
              <a:t>ユアサ商事がダイヤゼブラから最新PCSを仕入れ、在庫として確保（安定供給体制の構築）</a:t>
            </a:r>
          </a:p>
          <a:p>
            <a:pPr>
              <a:buNone/>
            </a:pPr>
            <a:r>
              <a:rPr lang="ja-JP" sz="1000" b="1" dirty="0">
                <a:solidFill>
                  <a:srgbClr val="1A7A42"/>
                </a:solidFill>
                <a:latin typeface="Meiryo"/>
                <a:ea typeface="Meiryo"/>
              </a:rPr>
              <a:t>❷ </a:t>
            </a:r>
            <a:r>
              <a:rPr lang="ja-JP" sz="1000" dirty="0">
                <a:solidFill>
                  <a:srgbClr val="334155"/>
                </a:solidFill>
                <a:latin typeface="Meiryo"/>
                <a:ea typeface="Meiryo"/>
              </a:rPr>
              <a:t>オルテナジーがユーザに対し「パワまる」サービスとしてPCS交換ソリューションを提供（施工・保守・監視を一括対応）</a:t>
            </a:r>
          </a:p>
          <a:p>
            <a:pPr>
              <a:buNone/>
            </a:pPr>
            <a:r>
              <a:rPr lang="ja-JP" sz="1000" b="1" dirty="0">
                <a:solidFill>
                  <a:srgbClr val="C85A18"/>
                </a:solidFill>
                <a:latin typeface="Meiryo"/>
                <a:ea typeface="Meiryo"/>
              </a:rPr>
              <a:t>❸ </a:t>
            </a:r>
            <a:r>
              <a:rPr lang="ja-JP" sz="1000" dirty="0">
                <a:solidFill>
                  <a:srgbClr val="334155"/>
                </a:solidFill>
                <a:latin typeface="Meiryo"/>
                <a:ea typeface="Meiryo"/>
              </a:rPr>
              <a:t>ユアサ商事がエンドユーザの与信を手当てし、ファイナンス面をサポート（月額払いの実現）</a:t>
            </a:r>
          </a:p>
        </p:txBody>
      </p:sp>
      <p:sp>
        <p:nvSpPr>
          <p:cNvPr id="121" name="AccentStripe"/>
          <p:cNvSpPr/>
          <p:nvPr/>
        </p:nvSpPr>
        <p:spPr>
          <a:xfrm>
            <a:off x="0" y="0"/>
            <a:ext cx="76200" cy="914400"/>
          </a:xfrm>
          <a:prstGeom prst="rect">
            <a:avLst/>
          </a:prstGeom>
          <a:solidFill>
            <a:srgbClr val="E8993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2" name="Divider"/>
          <p:cNvSpPr/>
          <p:nvPr/>
        </p:nvSpPr>
        <p:spPr>
          <a:xfrm>
            <a:off x="381000" y="1854200"/>
            <a:ext cx="9906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4020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ED06C0-17E3-4CA2-BA32-B32EAFC0FB7B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254</Words>
  <Application>Microsoft Office PowerPoint</Application>
  <PresentationFormat>ユーザー設定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田中 圭亮</dc:creator>
  <cp:keywords/>
  <dc:description>generated using python-pptx</dc:description>
  <cp:lastModifiedBy>田中 圭亮</cp:lastModifiedBy>
  <cp:revision>3</cp:revision>
  <dcterms:created xsi:type="dcterms:W3CDTF">2013-01-27T09:14:16Z</dcterms:created>
  <dcterms:modified xsi:type="dcterms:W3CDTF">2026-02-08T11:13:07Z</dcterms:modified>
  <cp:category/>
</cp:coreProperties>
</file>