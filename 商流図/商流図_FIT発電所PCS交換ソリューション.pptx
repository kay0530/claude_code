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997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FIT発電所向けPCS交換ソリューション事業　商流図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648000"/>
            <a:ext cx="997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08080"/>
                </a:solidFill>
              </a:defRPr>
            </a:pPr>
            <a:r>
              <a:t>～ ユアサ商事 × オルテナジー × ダイヤゼブラ電機 の3社協業スキーム 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1007999"/>
            <a:ext cx="9972000" cy="792000"/>
          </a:xfrm>
          <a:prstGeom prst="roundRect">
            <a:avLst/>
          </a:prstGeom>
          <a:solidFill>
            <a:srgbClr val="E6F2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【背景】</a:t>
            </a:r>
          </a:p>
          <a:p>
            <a:pPr>
              <a:defRPr sz="1000"/>
            </a:pPr>
            <a:r>
              <a:t>ユアサ商事がダイヤゼブラ社製PCSを納品してから約10年が経過。FIT発電所オーナーからPCS交換を含む修繕依頼が殺到。</a:t>
            </a:r>
          </a:p>
          <a:p>
            <a:pPr>
              <a:defRPr sz="1000"/>
            </a:pPr>
            <a:r>
              <a:t>オルテナジーが「パワまる」サービスを通じてダイヤゼブラ製最新PCSへの交換ソリューションを提供。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2160000"/>
            <a:ext cx="2160000" cy="1080000"/>
          </a:xfrm>
          <a:prstGeom prst="roundRect">
            <a:avLst/>
          </a:prstGeom>
          <a:solidFill>
            <a:srgbClr val="C8E6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3366"/>
                </a:solidFill>
              </a:defRPr>
            </a:pPr>
            <a:r>
              <a:t>ダイヤゼブラ電機</a:t>
            </a:r>
            <a:br/>
            <a:r>
              <a:t>（旧 田淵電機）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311999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</a:defRPr>
            </a:pPr>
            <a:r>
              <a:t>最新PCS製造・供給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40000" y="2160000"/>
            <a:ext cx="2340000" cy="1080000"/>
          </a:xfrm>
          <a:prstGeom prst="roundRect">
            <a:avLst/>
          </a:prstGeom>
          <a:solidFill>
            <a:srgbClr val="FFE6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45A00"/>
                </a:solidFill>
              </a:defRPr>
            </a:pPr>
            <a:r>
              <a:t>ユアサ商事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40000" y="3311999"/>
            <a:ext cx="23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</a:defRPr>
            </a:pPr>
            <a:r>
              <a:t>PCS在庫確保</a:t>
            </a:r>
            <a:br/>
            <a:r>
              <a:t>ファイナンス（与信）提供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60000" y="2160000"/>
            <a:ext cx="2340000" cy="1080000"/>
          </a:xfrm>
          <a:prstGeom prst="roundRect">
            <a:avLst/>
          </a:prstGeom>
          <a:solidFill>
            <a:srgbClr val="C8FF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8000"/>
                </a:solidFill>
              </a:defRPr>
            </a:pPr>
            <a:r>
              <a:t>オルテナジー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0" y="3311999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</a:defRPr>
            </a:pPr>
            <a:r>
              <a:t>「パワまる」実装・販売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0000" y="4680000"/>
            <a:ext cx="2340000" cy="900000"/>
          </a:xfrm>
          <a:prstGeom prst="roundRect">
            <a:avLst/>
          </a:prstGeom>
          <a:solidFill>
            <a:srgbClr val="FFFF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67800"/>
                </a:solidFill>
              </a:defRPr>
            </a:pPr>
            <a:r>
              <a:t>FIT発電所オーナー</a:t>
            </a:r>
            <a:br/>
            <a:r>
              <a:t>（エンドユーザ）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772000" y="2520000"/>
            <a:ext cx="1260000" cy="36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2000" y="2951999"/>
            <a:ext cx="12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366"/>
                </a:solidFill>
              </a:defRPr>
            </a:pPr>
            <a:r>
              <a:t>①PCS供給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552000" y="2520000"/>
            <a:ext cx="900000" cy="360000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0000" y="2951999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45A00"/>
                </a:solidFill>
              </a:defRPr>
            </a:pPr>
            <a:r>
              <a:t>②在庫提供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460000" y="3420000"/>
            <a:ext cx="360000" cy="1152000"/>
          </a:xfrm>
          <a:prstGeom prst="downArrow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28000" y="3780000"/>
            <a:ext cx="12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8000"/>
                </a:solidFill>
              </a:defRPr>
            </a:pPr>
            <a:r>
              <a:t>③「パワまる」</a:t>
            </a:r>
            <a:br/>
            <a:r>
              <a:t>提供</a:t>
            </a:r>
          </a:p>
        </p:txBody>
      </p:sp>
      <p:sp>
        <p:nvSpPr>
          <p:cNvPr id="18" name="Down Arrow 17"/>
          <p:cNvSpPr/>
          <p:nvPr/>
        </p:nvSpPr>
        <p:spPr>
          <a:xfrm rot="1800000">
            <a:off x="5040000" y="3348000"/>
            <a:ext cx="288000" cy="1800000"/>
          </a:xfrm>
          <a:prstGeom prst="downArrow">
            <a:avLst/>
          </a:prstGeom>
          <a:solidFill>
            <a:srgbClr val="FFB464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0" y="4140000"/>
            <a:ext cx="1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45A00"/>
                </a:solidFill>
              </a:defRPr>
            </a:pPr>
            <a:r>
              <a:t>④ファイナンス</a:t>
            </a:r>
            <a:br/>
            <a:r>
              <a:t>（与信提供）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0000" y="4680000"/>
            <a:ext cx="4320000" cy="1440000"/>
          </a:xfrm>
          <a:prstGeom prst="roundRect">
            <a:avLst/>
          </a:prstGeom>
          <a:solidFill>
            <a:srgbClr val="F0FFF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8000"/>
                </a:solidFill>
              </a:defRPr>
            </a:pPr>
            <a:r>
              <a:t>【パワまる サービス概要】</a:t>
            </a:r>
          </a:p>
          <a:p>
            <a:pPr>
              <a:defRPr sz="900"/>
            </a:pPr>
            <a:r>
              <a:t>• 最新型PCSへの交換＋付帯サービスのセット</a:t>
            </a:r>
          </a:p>
          <a:p>
            <a:pPr>
              <a:defRPr sz="900"/>
            </a:pPr>
            <a:r>
              <a:t>• 月額16,800円～（初期費用・頭金不要）</a:t>
            </a:r>
          </a:p>
          <a:p>
            <a:pPr>
              <a:defRPr sz="900"/>
            </a:pPr>
            <a:r>
              <a:t>• 監視代行・駆けつけ対応・故障時無償交換</a:t>
            </a:r>
          </a:p>
          <a:p>
            <a:pPr>
              <a:defRPr sz="900"/>
            </a:pPr>
            <a:r>
              <a:t>• 契約満了後はPCS無償譲渡</a:t>
            </a:r>
          </a:p>
          <a:p>
            <a:pPr>
              <a:defRPr sz="900" b="1">
                <a:solidFill>
                  <a:srgbClr val="003366"/>
                </a:solidFill>
              </a:defRPr>
            </a:pPr>
            <a:r>
              <a:t>※本件ではダイヤゼブラ製PCSを採用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0000" y="6228000"/>
            <a:ext cx="9972000" cy="1152000"/>
          </a:xfrm>
          <a:prstGeom prst="roundRect">
            <a:avLst/>
          </a:prstGeom>
          <a:solidFill>
            <a:srgbClr val="FFFA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45A00"/>
                </a:solidFill>
              </a:defRPr>
            </a:pPr>
            <a:r>
              <a:t>【本スキームのポイント】</a:t>
            </a:r>
          </a:p>
          <a:p>
            <a:pPr>
              <a:defRPr sz="900"/>
            </a:pPr>
            <a:r>
              <a:t>① ユアサ商事がダイヤゼブラから最新PCSを仕入れ、在庫として確保（安定供給体制の構築）</a:t>
            </a:r>
          </a:p>
          <a:p>
            <a:pPr>
              <a:defRPr sz="900"/>
            </a:pPr>
            <a:r>
              <a:t>② オルテナジーがユーザに対し「パワまる」サービスとしてPCS交換ソリューションを提供（施工・保守・監視を一括対応）</a:t>
            </a:r>
          </a:p>
          <a:p>
            <a:pPr>
              <a:defRPr sz="900"/>
            </a:pPr>
            <a:r>
              <a:t>③ ユアサ商事がエンドユーザの与信を手当てし、ファイナンス面をサポート（月額払いの実現）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