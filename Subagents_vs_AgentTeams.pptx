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eiryo UI"/>
              </a:defRPr>
            </a:pPr>
            <a:r>
              <a:t>Subagents  vs 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Meiryo UI"/>
              </a:defRPr>
            </a:pPr>
            <a:r>
              <a:t>Claude Code の2つの並列処理アーキテクチャを徹底比較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2026年2月版 | Claude Opus 4.6 対応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3474720" cy="13716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892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9AF5"/>
                </a:solidFill>
                <a:latin typeface="Meiryo UI"/>
              </a:defRPr>
            </a:pPr>
            <a:r>
              <a:t>🎯 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傭兵型 — 命令を受け、結果を返す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3474720" cy="13716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892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B6DD7"/>
                </a:solidFill>
                <a:latin typeface="Meiryo UI"/>
              </a:defRPr>
            </a:pPr>
            <a:r>
              <a:t>🏢 Agent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チーム型 — 議論し、協働する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アーキテクチャの違い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🎯 Subagents — 親子関係（上下構造）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Meiryo UI"/>
              </a:defRPr>
            </a:pPr>
            <a:r>
              <a:t>構造イメージ: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メインセッション（親）</a:t>
            </a:r>
            <a:br/>
            <a:r>
              <a:t>  ├── サブエージェントA → 結果を親に返す</a:t>
            </a:r>
            <a:br/>
            <a:r>
              <a:t>  ├── サブエージェントB → 結果を親に返す</a:t>
            </a:r>
            <a:br/>
            <a:r>
              <a:t>  └── サブエージェントC → 結果を親に返す</a:t>
            </a:r>
            <a:br/>
            <a:br/>
            <a:r>
              <a:t>     ※ A↔B↔C は通信できない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単一セッション内の子プロセス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結果は要約されてメインに返される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親エージェントがボトルネックになりうる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64008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5331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 UI"/>
              </a:defRPr>
            </a:pPr>
            <a:r>
              <a:rPr dirty="0"/>
              <a:t>🏢 Agent Teams — </a:t>
            </a:r>
            <a:r>
              <a:rPr dirty="0" err="1"/>
              <a:t>チーム関係（対等協働</a:t>
            </a:r>
            <a:r>
              <a:rPr dirty="0"/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DD7"/>
                </a:solidFill>
                <a:latin typeface="Meiryo UI"/>
              </a:defRPr>
            </a:pPr>
            <a:r>
              <a:t>構造イメージ: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チームリード（管理者）</a:t>
            </a:r>
            <a:br/>
            <a:r>
              <a:t>  ├── チームメイトA ↔ チームメイトB</a:t>
            </a:r>
            <a:br/>
            <a:r>
              <a:t>  ├── チームメイトB ↔ チームメイトC</a:t>
            </a:r>
            <a:br/>
            <a:r>
              <a:t>  └── チームメイトC ↔ チームメイトA</a:t>
            </a:r>
            <a:br/>
            <a:br/>
            <a:r>
              <a:t>     ※ 全員が直接通信可能 + 共有タスクリスト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各チームメイトが完全独立のClaude Codeインスタンス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共有タスクリスト + メールボックスで自己調整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複数視点の並列検証で精度向上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通信方式の違い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56032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0759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比較項目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420624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73552" y="130759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🎯 Subagents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280160"/>
            <a:ext cx="420624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9792" y="130759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🏢 Agent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256032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76479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通信方向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73736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3552" y="176479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一方向（子→親のみ）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3736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176479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双方向・ピアツーピア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40280"/>
            <a:ext cx="256032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26771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エージェント間通信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240280"/>
            <a:ext cx="42062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73552" y="226771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✕ 不可（必ず親経由）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240280"/>
            <a:ext cx="42062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226771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◎ 直接メッセージ可能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256032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77063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ブロードキャスト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74320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73552" y="277063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✕ 不可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74320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9792" y="277063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○ 全員に同時送信可能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46120"/>
            <a:ext cx="256032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27355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タスク管理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246120"/>
            <a:ext cx="42062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73552" y="327355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親が管理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246120"/>
            <a:ext cx="420624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79792" y="327355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共有タスクリスト（依存関係付き）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749040"/>
            <a:ext cx="256032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37764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完了通知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74904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73552" y="377647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結果を親に返す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749040"/>
            <a:ext cx="420624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9792" y="3776472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リードへ自動通知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114800"/>
            <a:ext cx="11247120" cy="24688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6DD7"/>
                </a:solidFill>
                <a:latin typeface="Meiryo UI"/>
              </a:defRPr>
            </a:pPr>
            <a:r>
              <a:t>🏢 Agent Teams の通信例（具体シナリオ）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APIチームメイトが型定義を完了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  → UIチームメイトに直接「型定義できたよ」と送信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テストチームメイトがAPIチームメイトに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  → 「開発サーバー起動して」と依頼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調整ツール 7種: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  TeamCreate / TaskCreate / TaskUpdate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  TaskList / Task (with team_name)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  SendMessage / TeamDelete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コスト構造の違い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292608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0759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コスト項目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280160"/>
            <a:ext cx="384048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22192" y="13075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🎯 Subagents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280160"/>
            <a:ext cx="384048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2" y="13075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🏢 Agent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29260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6479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ソロ比のトークン消費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73736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2" y="17647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約 2.2倍（3サブエージェント）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73736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2" y="17647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約 4～5倍（5チームメイト）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240280"/>
            <a:ext cx="2926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26771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トークン目安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24028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2" y="22677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ソロ200k → 約440k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4028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2" y="22677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ソロ200k → 約800k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43200"/>
            <a:ext cx="29260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277063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モデル指定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274320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22192" y="27706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Haikuに変更可（大幅コスト削減）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74320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2" y="27706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チームメイトはSonnet推奨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246120"/>
            <a:ext cx="29260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27355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アイドル時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324612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22192" y="327355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終了すれば消費なし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24612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62672" y="327355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アイドル中もトークン消費継続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749040"/>
            <a:ext cx="29260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3776472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eiryo UI"/>
              </a:defRPr>
            </a:pPr>
            <a:r>
              <a:t>コスト削減のコツ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40" y="374904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22192" y="377647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model: haiku 指定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74904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62672" y="377647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チームサイズを最小限に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66208"/>
            <a:ext cx="11247120" cy="2017472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6597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Meiryo UI"/>
              </a:defRPr>
            </a:pPr>
            <a:r>
              <a:rPr dirty="0"/>
              <a:t>⚠ </a:t>
            </a:r>
            <a:r>
              <a:rPr dirty="0" err="1"/>
              <a:t>コストに関する重要な注意点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40080" y="5162700"/>
            <a:ext cx="50292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⚠ Agent Teamsはパワフルだがコストも4～5倍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⚠ </a:t>
            </a:r>
            <a:r>
              <a:rPr dirty="0" err="1"/>
              <a:t>本当に連携が必要な場面に限定すべき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⚠ </a:t>
            </a:r>
            <a:r>
              <a:rPr dirty="0" err="1"/>
              <a:t>作業完了後は必ずTeamDeleteでクリーンアップ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⚠ </a:t>
            </a:r>
            <a:r>
              <a:rPr dirty="0" err="1"/>
              <a:t>アイドル中もトークンが流れ続ける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5943600" y="5162700"/>
            <a:ext cx="50292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→ </a:t>
            </a:r>
            <a:r>
              <a:rPr dirty="0" err="1"/>
              <a:t>コスト最適化の戦略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→   1. </a:t>
            </a:r>
            <a:r>
              <a:rPr dirty="0" err="1"/>
              <a:t>まずSubagentで十分か検討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→   2. </a:t>
            </a:r>
            <a:r>
              <a:rPr dirty="0" err="1"/>
              <a:t>連携が必要な場合のみAgent</a:t>
            </a:r>
            <a:r>
              <a:rPr dirty="0"/>
              <a:t> Teams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rPr dirty="0"/>
              <a:t>→   3. </a:t>
            </a:r>
            <a:r>
              <a:rPr dirty="0" err="1"/>
              <a:t>チームサイズは必要最小限に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ツールアクセスの違い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🎯 Subagents — 細かく制御可能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Meiryo UI"/>
              </a:defRPr>
            </a:pPr>
            <a:r>
              <a:t>組み込みサブエージェント: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Explore: 読み取り専用（Haikuモデル・高速・低コスト）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Plan: 読み取り専用（設計・計画用）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General-purpose: 全ツール使用可能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Meiryo UI"/>
              </a:defRPr>
            </a:pPr>
            <a:r>
              <a:t>カスタム制御: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tools: ホワイトリスト（許可するツールを指定）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disallowedTools: ブラックリスト（禁止ツールを指定）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model: haiku/sonnet/opus を指定可能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mcpServers: MCPサーバーを個別指定可能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⚠ バックグラウンド実行時はMCPツール利用不可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🏢 Agent Teams — リードの設定を継承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DD7"/>
                </a:solidFill>
                <a:latin typeface="Meiryo UI"/>
              </a:defRPr>
            </a:pPr>
            <a:r>
              <a:t>チームメイトの動作: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チームリードのパーミッションを全員が継承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起動時に個別のツール制限は設定不可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CLAUDE.md / MCPサーバー / Skills を通常通りロード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リードはdangerously-skip-permissionsも継承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DD7"/>
                </a:solidFill>
                <a:latin typeface="Meiryo UI"/>
              </a:defRPr>
            </a:pPr>
            <a:r>
              <a:t>リード専用モード: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delegateモード: チーム管理ツールのみに制限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リードが直接コードを書かず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   チーム管理に専念するモード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→ ツール制御の粒度は Subagentsが優位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使い分けシナリオ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🎯 Subagents が最適なケース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大量出力の隔離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テスト実行、ログ解析、ドキュメント取得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並列リサーチ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認証・DB・APIモジュールを同時調査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順次処理のチェーン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コードレビュー → 最適化実行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ツール制限の強制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読み取り専用レビューワー、SELECTのみDB操作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コスト重視のタスク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Haikuモデルで高速・低コストに処理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🏢 Agent Teams が最適なケース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並列コードレビュー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セキュリティ / パフォーマンス / テストを同時検証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競合仮説デバッグ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複数仮説を並行検証、アンカリングバイアス回避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マルチモジュール機能開発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フロント・バック・テストを各チームメイトが担当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大規模QAスイーム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5エージェントが146URL+83記事を約3分で処理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クロスレイヤー調整</a:t>
            </a:r>
          </a:p>
          <a:p>
            <a:pPr>
              <a:spcAft>
                <a:spcPts val="4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  → 複数レイヤーにまたがる変更を連携実行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制限事項の比較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274320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0759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制限項目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280160"/>
            <a:ext cx="384048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312" y="13075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🎯 Subagents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280160"/>
            <a:ext cx="3840480" cy="457200"/>
          </a:xfrm>
          <a:prstGeom prst="rect">
            <a:avLst/>
          </a:prstGeom>
          <a:solidFill>
            <a:srgbClr val="DA7B3C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9792" y="13075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🏢 Agent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274320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6479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ネスト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3736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17647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サブからサブは起動不可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3736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17647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チームメイトからチーム作成不可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240280"/>
            <a:ext cx="27432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26771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セッション再開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24028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39312" y="22677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通常通り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24028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22677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/resume でチームメイト復元不可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43200"/>
            <a:ext cx="274320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277063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同時チーム数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74320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27706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— （複数起動可）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74320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9792" y="27706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1セッション1チームのみ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246120"/>
            <a:ext cx="27432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27355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リーダー交代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24612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39312" y="327355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24612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79792" y="327355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リーダーシップ移譲不可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749040"/>
            <a:ext cx="274320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377647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表示環境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74904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77647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制限なし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74904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9792" y="377647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tmux or iTerm2 が必要</a:t>
            </a:r>
            <a:br/>
            <a:r>
              <a:t>(VS Code統合ターミナル不可)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251960"/>
            <a:ext cx="27432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27939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有効化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425196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39312" y="42793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デフォルトで利用可能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25196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79792" y="42793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環境変数で明示的に有効化が必要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754880"/>
            <a:ext cx="274320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" y="478231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シャットダウン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475488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39312" y="47823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即時停止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754880"/>
            <a:ext cx="3840480" cy="45720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79792" y="478231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現在のリクエスト完了まで待機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257800"/>
            <a:ext cx="27432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528523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タスク完了漏れ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525780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39312" y="52852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— （親が確認）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5257800"/>
            <a:ext cx="3840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79792" y="528523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チームメイトが完了マークを忘れることあり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設定方法・起動方法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🎯 Subagents の設定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Meiryo UI"/>
              </a:defRPr>
            </a:pPr>
            <a:r>
              <a:t>方法1: /agents コマンド（推奨）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CCCCCC"/>
                </a:solidFill>
                <a:latin typeface="Meiryo UI"/>
              </a:defRPr>
            </a:pPr>
            <a:r>
              <a:t>  対話的に作成・編集・削除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Meiryo UI"/>
              </a:defRPr>
            </a:pPr>
            <a:r>
              <a:t>方法2: Markdownファイルを配置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  ~/.claude/agents/code-reviewer.md</a:t>
            </a:r>
            <a:br/>
            <a:r>
              <a:t>  ---</a:t>
            </a:r>
            <a:br/>
            <a:r>
              <a:t>  name: code-reviewer</a:t>
            </a:r>
            <a:br/>
            <a:r>
              <a:t>  tools: Read, Glob, Grep</a:t>
            </a:r>
            <a:br/>
            <a:r>
              <a:t>  model: sonnet</a:t>
            </a:r>
            <a:br/>
            <a:r>
              <a:t>  ---</a:t>
            </a:r>
            <a:br/>
            <a:r>
              <a:t>  You are a code reviewer...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Meiryo UI"/>
              </a:defRPr>
            </a:pPr>
            <a:r>
              <a:t>方法3: CLIフラグ（一時的）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  claude --agents '{...}'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🏢 Agent Teams の設定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DD7"/>
                </a:solidFill>
                <a:latin typeface="Meiryo UI"/>
              </a:defRPr>
            </a:pPr>
            <a:r>
              <a:t>Step 1: 機能の有効化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  settings.json:</a:t>
            </a:r>
            <a:br/>
            <a:r>
              <a:t>  { "env": {</a:t>
            </a:r>
            <a:br/>
            <a:r>
              <a:t>    "CLAUDE_CODE_EXPERIMENTAL</a:t>
            </a:r>
            <a:br/>
            <a:r>
              <a:t>     _AGENT_TEAMS": "1"</a:t>
            </a:r>
            <a:br/>
            <a:r>
              <a:t>  }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DD7"/>
                </a:solidFill>
                <a:latin typeface="Meiryo UI"/>
              </a:defRPr>
            </a:pPr>
            <a:r>
              <a:t>Step 2: 自然言語でチームを起動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  &gt; Create an agent team to</a:t>
            </a:r>
            <a:br/>
            <a:r>
              <a:t>    review PR #142.</a:t>
            </a:r>
            <a:br/>
            <a:r>
              <a:t>    Spawn three reviewers:</a:t>
            </a:r>
            <a:br/>
            <a:r>
              <a:t>    - Security focus</a:t>
            </a:r>
            <a:br/>
            <a:r>
              <a:t>    - Performance focus</a:t>
            </a:r>
            <a:br/>
            <a:r>
              <a:t>    - Test coverage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DD7"/>
                </a:solidFill>
                <a:latin typeface="Meiryo UI"/>
              </a:defRPr>
            </a:pPr>
            <a:r>
              <a:t>Step 3: 表示モードの選択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eiryo UI"/>
              </a:defRPr>
            </a:pPr>
            <a:r>
              <a:t>  in-process または tmux / iTerm2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判断フローチャート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3931920" cy="640080"/>
          </a:xfrm>
          <a:prstGeom prst="round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12618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タスクが来た！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103120"/>
            <a:ext cx="393192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21762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1人で十分？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103120"/>
            <a:ext cx="2743200" cy="64008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2176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Yes → 通常セッション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017520"/>
            <a:ext cx="393192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30906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結果だけ返してほしい？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017520"/>
            <a:ext cx="2743200" cy="6400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3090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Yes → Subagents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931920"/>
            <a:ext cx="393192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40050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エージェント間で議論・連携が必要？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931920"/>
            <a:ext cx="2743200" cy="640080"/>
          </a:xfrm>
          <a:prstGeom prst="round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Yes → Agent 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846320"/>
            <a:ext cx="393192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0" y="49194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コストを最小限にしたい？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846320"/>
            <a:ext cx="2743200" cy="6400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4919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Yes → Subagents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Meiryo UI"/>
              </a:defRPr>
            </a:pPr>
            <a:r>
              <a:t>No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Meiryo UI"/>
              </a:defRPr>
            </a:pPr>
            <a:r>
              <a:t>No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Meiryo UI"/>
              </a:defRPr>
            </a:pPr>
            <a:r>
              <a:t>No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760720"/>
            <a:ext cx="9418320" cy="82296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DA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4480" y="583387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A7B3C"/>
                </a:solidFill>
                <a:latin typeface="Meiryo UI"/>
              </a:defRPr>
            </a:pPr>
            <a:r>
              <a:t>「結果を集めるだけなら Subagents、協働が必要なら Agent Teams」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807</Words>
  <Application>Microsoft Office PowerPoint</Application>
  <PresentationFormat>ワイド画面</PresentationFormat>
  <Paragraphs>188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田中 圭亮</cp:lastModifiedBy>
  <cp:revision>3</cp:revision>
  <dcterms:created xsi:type="dcterms:W3CDTF">2013-01-27T09:14:16Z</dcterms:created>
  <dcterms:modified xsi:type="dcterms:W3CDTF">2026-02-12T05:23:58Z</dcterms:modified>
  <cp:category/>
</cp:coreProperties>
</file>