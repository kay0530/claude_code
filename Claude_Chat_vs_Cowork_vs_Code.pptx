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6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43191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 UI"/>
              </a:defRPr>
            </a:pPr>
            <a:r>
              <a:rPr dirty="0"/>
              <a:t>Claude Chat  vs  </a:t>
            </a:r>
            <a:r>
              <a:rPr dirty="0" err="1"/>
              <a:t>Cowork</a:t>
            </a:r>
            <a:r>
              <a:rPr dirty="0"/>
              <a:t>  vs 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Meiryo UI"/>
              </a:defRPr>
            </a:pPr>
            <a:r>
              <a:t>Anthropic 3製品の徹底比較ガイド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Meiryo UI"/>
              </a:defRPr>
            </a:pPr>
            <a:r>
              <a:t>2026年2月版 | Claude Opus 4.6 対応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029200"/>
            <a:ext cx="1645920" cy="9144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9AF5"/>
                </a:solidFill>
                <a:latin typeface="Meiryo UI"/>
              </a:defRPr>
            </a:pPr>
            <a:r>
              <a:t>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5029200"/>
            <a:ext cx="1645920" cy="9144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98B"/>
                </a:solidFill>
                <a:latin typeface="Meiryo UI"/>
              </a:defRPr>
            </a:pPr>
            <a:r>
              <a:t>Cowork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59" y="5029200"/>
            <a:ext cx="1645920" cy="9144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59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6DD7"/>
                </a:solidFill>
                <a:latin typeface="Meiryo UI"/>
              </a:defRPr>
            </a:pPr>
            <a:r>
              <a:t>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3製品の位置づけと概要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474720" cy="7315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💬 Claude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Meiryo UI"/>
              </a:defRPr>
            </a:pPr>
            <a:r>
              <a:t>対話型AIアシスタント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Web / デスクトップ / モバイル対応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ターンベースの即時応答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Artifacts（インタラクティブ成果物）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Projects（コンテキスト保持）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ファイルアップロード・分析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音声入力対応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Alt+Space でどこからでも起動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MCP拡張（外部ツール連携）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74720" cy="50292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474720" cy="73152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🤝 Claude Cowork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8B"/>
                </a:solidFill>
                <a:latin typeface="Meiryo UI"/>
              </a:defRPr>
            </a:pPr>
            <a:r>
              <a:t>知識労働向けAIエージェント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デスクトップアプリ専用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非同期・長時間タスク実行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ローカルファイル直接アクセス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サブエージェント並列処理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Excel / PowerPoint 生成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VM内サンドボックス実行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フォルダ別カスタム指示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プラグインライブラリ対応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80160"/>
            <a:ext cx="3474720" cy="50292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474720" cy="73152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371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eiryo UI"/>
              </a:defRPr>
            </a:pPr>
            <a:r>
              <a:t>⌨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6DD7"/>
                </a:solidFill>
                <a:latin typeface="Meiryo UI"/>
              </a:defRPr>
            </a:pPr>
            <a:r>
              <a:t>エージェント型コーディングツール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CLI / VS Code / JetBrains / Web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非同期・自律的コード実装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コードベース全体の理解・編集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Agent Teams（マルチエージェント）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Git / CI/CD 自動連携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CLAUDE.md でプロジェクト設定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スキル・フック機能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Agent SDK（プログラマブル）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機能比較表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比較項目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188720"/>
            <a:ext cx="2926080" cy="4572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Claude Chat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188720"/>
            <a:ext cx="2926080" cy="4572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Claude Cowork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188720"/>
            <a:ext cx="2926080" cy="45720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Claude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22860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66420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インターフェース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16352" y="166420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Web / デスクトップ / モバイル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64592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42432" y="166420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デスクトップアプリのみ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64592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68512" y="166420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CLI / IDE / Web / モバイル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148840"/>
            <a:ext cx="22860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16712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対話スタイル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14884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16352" y="216712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ターンベース（同期）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14884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42432" y="216712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非同期・永続的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14884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68512" y="216712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非同期・永続的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22860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267004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主な対象ユーザー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65176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16352" y="267004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全般（誰でも）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65176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42432" y="267004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知識労働者</a:t>
            </a:r>
            <a:br/>
            <a:r>
              <a:t>研究者・アナリスト・管理者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265176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68512" y="267004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開発者・エンジニア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154680"/>
            <a:ext cx="22860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17296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ファイルアクセス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15468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16352" y="317296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手動アップロード</a:t>
            </a:r>
            <a:br/>
            <a:r>
              <a:t>(20ファイル/回, 30MB/件)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15468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42432" y="317296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ローカル直接アクセス</a:t>
            </a:r>
            <a:br/>
            <a:r>
              <a:t>(許可フォルダ内)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15468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68512" y="317296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ローカル直接アクセス</a:t>
            </a:r>
            <a:br/>
            <a:r>
              <a:t>(プロジェクト全体)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57600"/>
            <a:ext cx="22860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367588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成果物出力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365760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16352" y="367588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Artifacts</a:t>
            </a:r>
            <a:br/>
            <a:r>
              <a:t>(HTML/コード/SVG等)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365760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42432" y="367588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Excel / PowerPoint /</a:t>
            </a:r>
            <a:br/>
            <a:r>
              <a:t>フォーマット済み文書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365760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68512" y="367588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コードファイル /</a:t>
            </a:r>
            <a:br/>
            <a:r>
              <a:t>Gitコミット・PR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160520"/>
            <a:ext cx="22860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417880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マルチエージェント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416052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16352" y="417880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非対応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416052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42432" y="417880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○ サブエージェント並列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416052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68512" y="417880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◎ Agent Teams</a:t>
            </a:r>
            <a:br/>
            <a:r>
              <a:t>+ サブエージェント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663440"/>
            <a:ext cx="22860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0352" y="468172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MCP連携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466344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16352" y="468172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○ 対応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0" y="466344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742432" y="468172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○ 対応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60" y="466344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668512" y="468172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◎ 豊富なエコシステム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166360"/>
            <a:ext cx="22860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30352" y="518464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Git連携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516636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816352" y="518464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非対応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0" y="516636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742432" y="518464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非対応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95360" y="516636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668512" y="518464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◎ 完全対応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669280"/>
            <a:ext cx="22860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0352" y="568756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Projects機能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0" y="566928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816352" y="568756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○ 対応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0" y="566928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742432" y="568756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非対応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95360" y="5669280"/>
            <a:ext cx="29260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668512" y="568756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CLAUDE.md で代替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6172200"/>
            <a:ext cx="22860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30352" y="619048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eiryo UI"/>
              </a:defRPr>
            </a:pPr>
            <a:r>
              <a:t>Memory機能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0" y="617220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816352" y="619048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○ 対応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0" y="617220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742432" y="619048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✕ 非対応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95360" y="6172200"/>
            <a:ext cx="29260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668512" y="6190488"/>
            <a:ext cx="2779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CCCCCC"/>
                </a:solidFill>
                <a:latin typeface="Meiryo UI"/>
              </a:defRPr>
            </a:pPr>
            <a:r>
              <a:t>○ 対応(auto memory)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どのタスクにどの製品？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💬 Chat が最適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素早いQ&amp;A・ブレインストーミング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文章の要約・翻訳・校正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メール文面の下書き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PDFやドキュメントの分析・質問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アイデアの壁打ち・議論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コードスニペットの説明・生成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Artifacts でインタラクティブ出力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Projects で長期コンテキスト保持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9AF5"/>
                </a:solidFill>
                <a:latin typeface="Meiryo UI"/>
              </a:defRPr>
            </a:pPr>
            <a:r>
              <a:t>キーワード: 即時応答・手軽・汎用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54864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353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🤝 Cowork が最適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数十のPDFを統合レポートに変換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領収書→経費レポートの自動作成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データ分析＋Excel / チャート生成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PowerPointプレゼン資料の作成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ファイルの整理・リネーム・分類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会議記録からテーマ抽出・要約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市場調査レポートの作成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複数ソースからの情報統合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98B"/>
                </a:solidFill>
                <a:latin typeface="Meiryo UI"/>
              </a:defRPr>
            </a:pPr>
            <a:r>
              <a:t>キーワード: 長時間・自律・文書処理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566160" cy="54864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353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⌨ Code が最適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新機能の実装・モジュール開発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バグの調査・修正（自律的に）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テストの自動生成・実行・修正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コードレビュー（セキュリティ含む）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リファクタリング・大規模変更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Git操作・PR作成・CI/CD連携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Agent Teams で並列開発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Agent SDK でカスタム自動化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6DD7"/>
                </a:solidFill>
                <a:latin typeface="Meiryo UI"/>
              </a:defRPr>
            </a:pPr>
            <a:r>
              <a:t>キーワード: 開発・エージェント・自律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マルチエージェント処理の対応状況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22860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💬 Chat — ✕ 非対応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単一のターンベース対話のみ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1つのプロンプトに対し1つの応答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並列処理・タスク分割は不可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複雑なタスクは手動で分割が必要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57600" cy="22860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54864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353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🤝 Cowork — ○ サブエージェント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タスクを自動でサブタスクに分解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複数のサブエージェントが並列実行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VM内で安全に複数ワークストリーム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エージェント間の直接通信は不可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657600" cy="22860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3533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⌨ Code — ◎ Agent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リード + 複数チームメイトの協調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共有タスクリスト &amp; メッセージング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エージェント間の直接通信が可能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Meiryo UI"/>
              </a:defRPr>
            </a:pPr>
            <a:r>
              <a:t>▸ サブエージェントとの併用も可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11247120" cy="27432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6DD7"/>
                </a:solidFill>
                <a:latin typeface="Meiryo UI"/>
              </a:defRPr>
            </a:pPr>
            <a:r>
              <a:t>⌨ Claude Code Agent Teams の詳細（研究プレビュー / Opus 4.6～）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▸ 仕組み: リードがタスクを計画・チームメイトに分配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▸ 各チームメイトは独立したClaude Codeセッション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▸ 共有タスクリスト + メールボックスで自己調整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▸ 表示: in-process（統合）or split panes（tmux/iTerm2）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80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⚠ 制限: セッション再開（/resume）非対応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⚠ 制限: ネストチーム不可（チームメイトがチームを作れない）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⚠ 制限: tmux or iTerm2 が必要（VS Code統合ターミナルは不可）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⚠ Agent Teams vs Subagents: コスト・柔軟性のトレードオフ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できないこと・制限事項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530352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54864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61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💬 Chat の制限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マルチエージェント非対応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ローカルファイル直接操作不可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Git / CI/CD 連携なし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長時間の自律タスク実行不可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中断・方向転換が難しい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ファイル: 20件/回, 30MB/件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PDF: 100ページ未満のみ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5時間ローリング使用制限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コンテキスト: 200Kトークン上限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530352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54864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🤝 Cowork の制限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デスクトップアプリ専用(Web/モバイル不可)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Projects機能が使えない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Memory機能なし(セッション間記憶なし)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チャット共有・Artifacts共有不可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監査ログ非対応(規制業務不適合)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コーディング作業には不向き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Chatより大幅にトークン消費が多い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Windowsではアクセス可能フォルダが制限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リサーチプレビュー段階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566160" cy="530352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548640"/>
          </a:xfrm>
          <a:prstGeom prst="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61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⌨ Code の制限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ターミナル操作の知識が必要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無料プランでは利用不可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Chatより使用量コストが重い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UI/UXデザインは不得意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最新フレームワーク知識が不足する場合あり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Agent Teams: tmux/iTerm2が必要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Agent Teams: セッション再開不可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コード精度: 綄88%(20%は人間レビュー要)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✕ 高機密データには注意が必要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利用可能なプラン・料金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645920" cy="4572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プラン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280160"/>
            <a:ext cx="1645920" cy="4572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40" y="1325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月額料金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280160"/>
            <a:ext cx="1371600" cy="4572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Chat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280160"/>
            <a:ext cx="1371600" cy="4572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6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Cowork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280160"/>
            <a:ext cx="1371600" cy="4572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280160"/>
            <a:ext cx="3840480" cy="4572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3258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備考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37360"/>
            <a:ext cx="164592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783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  <a:latin typeface="Meiryo UI"/>
              </a:defRPr>
            </a:pPr>
            <a:r>
              <a:t>Free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1737360"/>
            <a:ext cx="164592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48840" y="1783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$0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173736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94760" y="1783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73736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1783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5050"/>
                </a:solidFill>
                <a:latin typeface="Meiryo UI"/>
              </a:defRPr>
            </a:pPr>
            <a: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73736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783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5050"/>
                </a:solidFill>
                <a:latin typeface="Meiryo UI"/>
              </a:defRPr>
            </a:pPr>
            <a:r>
              <a:t>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737360"/>
            <a:ext cx="38404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178308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基本機能のみ・使用量制限厳しい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240280"/>
            <a:ext cx="164592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2286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  <a:latin typeface="Meiryo UI"/>
              </a:defRPr>
            </a:pPr>
            <a:r>
              <a:t>Pro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2240280"/>
            <a:ext cx="164592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48840" y="2286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$20/月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40" y="224028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94760" y="22860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224028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66360" y="22860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24028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22860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240280"/>
            <a:ext cx="38404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22860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Freeの5倍の使用量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743200"/>
            <a:ext cx="164592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27889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  <a:latin typeface="Meiryo UI"/>
              </a:defRPr>
            </a:pPr>
            <a:r>
              <a:t>Max 5x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2743200"/>
            <a:ext cx="164592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48840" y="27889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$100/月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40" y="274320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94760" y="2788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274320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66360" y="2788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74320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2788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2743200"/>
            <a:ext cx="38404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27889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Proの5倍・全モデル対応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246120"/>
            <a:ext cx="164592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3291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  <a:latin typeface="Meiryo UI"/>
              </a:defRPr>
            </a:pPr>
            <a:r>
              <a:t>Max 20x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3246120"/>
            <a:ext cx="164592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48840" y="3291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$200/月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40" y="324612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94760" y="3291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324612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66360" y="3291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324612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60" y="32918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3246120"/>
            <a:ext cx="38404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09560" y="329184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Proの20倍・ヘビーユーザー向け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749040"/>
            <a:ext cx="164592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2920" y="3794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  <a:latin typeface="Meiryo UI"/>
              </a:defRPr>
            </a:pPr>
            <a:r>
              <a:t>Team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3749040"/>
            <a:ext cx="164592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148840" y="3794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$25～/人/月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9040" y="374904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794760" y="3794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374904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66360" y="3794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3749040"/>
            <a:ext cx="137160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37960" y="3794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63840" y="3749040"/>
            <a:ext cx="3840480" cy="502920"/>
          </a:xfrm>
          <a:prstGeom prst="rect">
            <a:avLst/>
          </a:prstGeom>
          <a:solidFill>
            <a:srgbClr val="222B45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909560" y="37947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5名～ / Premium Seat: $150/人/月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251960"/>
            <a:ext cx="164592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920" y="4297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CCCC"/>
                </a:solidFill>
                <a:latin typeface="Meiryo UI"/>
              </a:defRPr>
            </a:pPr>
            <a:r>
              <a:t>Enterprise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4251960"/>
            <a:ext cx="164592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48840" y="4297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要問合せ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40" y="425196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794760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425196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66360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4251960"/>
            <a:ext cx="137160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537960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EC98B"/>
                </a:solidFill>
                <a:latin typeface="Meiryo UI"/>
              </a:defRPr>
            </a:pPr>
            <a:r>
              <a:t>○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4251960"/>
            <a:ext cx="3840480" cy="502920"/>
          </a:xfrm>
          <a:prstGeom prst="rect">
            <a:avLst/>
          </a:prstGeom>
          <a:solidFill>
            <a:srgbClr val="16213E"/>
          </a:solidFill>
          <a:ln w="12700">
            <a:solidFill>
              <a:srgbClr val="3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909560" y="429768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eiryo UI"/>
              </a:defRPr>
            </a:pPr>
            <a:r>
              <a:t>SSO・監査ログ・HIPAA対応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DA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0080" y="4846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A7B3C"/>
                </a:solidFill>
                <a:latin typeface="Meiryo UI"/>
              </a:defRPr>
            </a:pPr>
            <a:r>
              <a:t>⚠ 使用量に関する重要な注意点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52120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Chat / Cowork / Code の使用量は同じ上限にカウントされる（共有制限）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Cowork / Code はChatより大幅にトークン消費が多い（複雑なシステム命令・複数ステップ処理のため）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5時間ローリングウィンドウでリセット。上限到達時はリセットまで待機が必要</a:t>
            </a:r>
          </a:p>
          <a:p>
            <a:pPr>
              <a:spcAft>
                <a:spcPts val="300"/>
              </a:spcAft>
              <a:defRPr sz="1150">
                <a:solidFill>
                  <a:srgbClr val="CCCCCC"/>
                </a:solidFill>
                <a:latin typeface="Meiryo UI"/>
              </a:defRPr>
            </a:pPr>
            <a:r>
              <a:t>▸ Opus 4.6 の Adaptive Thinking により、予期せぬトークン消費増のリスクあり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使い分けフローチャート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2743200" cy="640080"/>
          </a:xfrm>
          <a:prstGeom prst="round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1261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タスクの種類は？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2743200" cy="640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素早い回答・対話が必要？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00400"/>
            <a:ext cx="1828800" cy="64008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💬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286000"/>
            <a:ext cx="2743200" cy="640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359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文書・データ処理？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200400"/>
            <a:ext cx="1828800" cy="640080"/>
          </a:xfrm>
          <a:prstGeom prst="round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🤝 Cowork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286000"/>
            <a:ext cx="2743200" cy="64008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359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コード開発・DevOps？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200400"/>
            <a:ext cx="1828800" cy="640080"/>
          </a:xfrm>
          <a:prstGeom prst="roundRect">
            <a:avLst/>
          </a:prstGeom>
          <a:solidFill>
            <a:srgbClr val="9B6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3273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⌨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206240"/>
            <a:ext cx="3749039" cy="237744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Meiryo UI"/>
              </a:defRPr>
            </a:pPr>
            <a:r>
              <a:t>💬 Chat を選ぶとき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質問して即座に答えが欲しい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ブレインストーミング・壁打ち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ドキュメントの要約・翻訳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簡単なコード生成・説明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Artifacts でインタラクティブ出力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06240"/>
            <a:ext cx="3749039" cy="237744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8B"/>
                </a:solidFill>
                <a:latin typeface="Meiryo UI"/>
              </a:defRPr>
            </a:pPr>
            <a:r>
              <a:t>🤝 Cowork を選ぶとき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663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「30分の作業」を丸投げしたい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Excel / PowerPoint を自動作成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数十ファイルの統合・整理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データ分析 → レポート化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ローカルファイルを直接操作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206240"/>
            <a:ext cx="3749039" cy="237744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297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6DD7"/>
                </a:solidFill>
                <a:latin typeface="Meiryo UI"/>
              </a:defRPr>
            </a:pPr>
            <a:r>
              <a:t>⌨ Code を選ぶとき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機能開発・バグ修正を自律実行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テスト生成・CI/CD連携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Agent Teams で並列開発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コードレビュー（セキュリティ）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Meiryo UI"/>
              </a:defRPr>
            </a:pPr>
            <a:r>
              <a:t>→ Agent SDK でカスタム自動化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 UI"/>
              </a:defRPr>
            </a:pPr>
            <a:r>
              <a:t>まとめ — 一言で言うと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38100"/>
          </a:xfrm>
          <a:prstGeom prst="rect">
            <a:avLst/>
          </a:prstGeom>
          <a:solidFill>
            <a:srgbClr val="DA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36576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E9AF5"/>
                </a:solidFill>
                <a:latin typeface="Meiryo UI"/>
              </a:defRPr>
            </a:pPr>
            <a:r>
              <a:t>💬 Claude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「知りたいことを</a:t>
            </a:r>
            <a:br/>
            <a:r>
              <a:t> 今すぐ聞ける相棒」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誰でも・どこでも・すぐ使える</a:t>
            </a:r>
            <a:br/>
            <a:r>
              <a:t>汎用AIアシスタント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74720" cy="36576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EC98B"/>
                </a:solidFill>
                <a:latin typeface="Meiryo UI"/>
              </a:defRPr>
            </a:pPr>
            <a:r>
              <a:t>🤝 Claude Cowork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「面倒な作業を</a:t>
            </a:r>
            <a:br/>
            <a:r>
              <a:t> 丸投げできる秘書」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知識労働者のための</a:t>
            </a:r>
            <a:br/>
            <a:r>
              <a:t>自律型ファイル処理エージェント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365760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9B6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B6DD7"/>
                </a:solidFill>
                <a:latin typeface="Meiryo UI"/>
              </a:defRPr>
            </a:pPr>
            <a:r>
              <a:t>⌨ 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t>「チームに加わった</a:t>
            </a:r>
            <a:br/>
            <a:r>
              <a:t> 凄腕エンジニア」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eiryo UI"/>
              </a:defRPr>
            </a:pPr>
            <a:r>
              <a:t>開発者のための</a:t>
            </a:r>
            <a:br/>
            <a:r>
              <a:t>エージェント型コーディングツール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89920" cy="1188720"/>
          </a:xfrm>
          <a:prstGeom prst="roundRect">
            <a:avLst/>
          </a:prstGeom>
          <a:solidFill>
            <a:srgbClr val="222B45"/>
          </a:solidFill>
          <a:ln w="12700">
            <a:solidFill>
              <a:srgbClr val="DA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A7B3C"/>
                </a:solidFill>
                <a:latin typeface="Meiryo UI"/>
              </a:defRPr>
            </a:pPr>
            <a:r>
              <a:t>3つの製品は補完関係 — 同じClaude AIの異なるインターフェース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 UI"/>
              </a:defRPr>
            </a:pPr>
            <a:r>
              <a:t>Chat = 即時対話  |  Cowork = 自律文書処理  |  Code = 自律コード開発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973</Words>
  <Application>Microsoft Office PowerPoint</Application>
  <PresentationFormat>ワイド画面</PresentationFormat>
  <Paragraphs>255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田中 圭亮</cp:lastModifiedBy>
  <cp:revision>2</cp:revision>
  <dcterms:created xsi:type="dcterms:W3CDTF">2013-01-27T09:14:16Z</dcterms:created>
  <dcterms:modified xsi:type="dcterms:W3CDTF">2026-02-12T04:24:43Z</dcterms:modified>
  <cp:category/>
</cp:coreProperties>
</file>